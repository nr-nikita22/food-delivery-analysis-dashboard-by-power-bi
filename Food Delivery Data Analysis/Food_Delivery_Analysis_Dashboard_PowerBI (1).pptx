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2" autoAdjust="0"/>
    <p:restoredTop sz="94610"/>
  </p:normalViewPr>
  <p:slideViewPr>
    <p:cSldViewPr snapToGrid="0" snapToObjects="1">
      <p:cViewPr>
        <p:scale>
          <a:sx n="75" d="100"/>
          <a:sy n="75" d="100"/>
        </p:scale>
        <p:origin x="61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799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95300" y="-345440"/>
            <a:ext cx="13119100" cy="7274560"/>
          </a:xfrm>
          <a:prstGeom prst="rect">
            <a:avLst/>
          </a:prstGeom>
          <a:solidFill>
            <a:srgbClr val="17365D"/>
          </a:solidFill>
          <a:ln/>
        </p:spPr>
        <p:txBody>
          <a:bodyPr/>
          <a:lstStyle/>
          <a:p>
            <a:endParaRPr lang="en-IN" dirty="0"/>
          </a:p>
        </p:txBody>
      </p:sp>
      <p:sp>
        <p:nvSpPr>
          <p:cNvPr id="3" name="Shape 1"/>
          <p:cNvSpPr/>
          <p:nvPr/>
        </p:nvSpPr>
        <p:spPr>
          <a:xfrm>
            <a:off x="9004300" y="-1188720"/>
            <a:ext cx="4754880" cy="4754880"/>
          </a:xfrm>
          <a:prstGeom prst="ellipse">
            <a:avLst/>
          </a:prstGeom>
          <a:solidFill>
            <a:srgbClr val="1F4373"/>
          </a:solidFill>
          <a:ln/>
        </p:spPr>
        <p:txBody>
          <a:bodyPr/>
          <a:lstStyle/>
          <a:p>
            <a:endParaRPr lang="en-IN" dirty="0"/>
          </a:p>
        </p:txBody>
      </p:sp>
      <p:sp>
        <p:nvSpPr>
          <p:cNvPr id="4" name="Shape 2"/>
          <p:cNvSpPr/>
          <p:nvPr/>
        </p:nvSpPr>
        <p:spPr>
          <a:xfrm>
            <a:off x="9875520" y="3291840"/>
            <a:ext cx="3291840" cy="3291840"/>
          </a:xfrm>
          <a:prstGeom prst="ellipse">
            <a:avLst/>
          </a:prstGeom>
          <a:solidFill>
            <a:srgbClr val="1F4373"/>
          </a:solidFill>
          <a:ln/>
        </p:spPr>
        <p:txBody>
          <a:bodyPr/>
          <a:lstStyle/>
          <a:p>
            <a:endParaRPr lang="en-IN"/>
          </a:p>
        </p:txBody>
      </p:sp>
      <p:sp>
        <p:nvSpPr>
          <p:cNvPr id="14" name="Text 9"/>
          <p:cNvSpPr/>
          <p:nvPr/>
        </p:nvSpPr>
        <p:spPr>
          <a:xfrm>
            <a:off x="640080" y="1417320"/>
            <a:ext cx="7772400" cy="365760"/>
          </a:xfrm>
          <a:prstGeom prst="rect">
            <a:avLst/>
          </a:prstGeom>
          <a:noFill/>
          <a:ln/>
        </p:spPr>
        <p:txBody>
          <a:bodyPr wrap="square"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POWER BI  •  BUSINESS INTELLIGENCE PROJECT</a:t>
            </a:r>
            <a:endParaRPr lang="en-US" sz="1300" dirty="0"/>
          </a:p>
        </p:txBody>
      </p:sp>
      <p:sp>
        <p:nvSpPr>
          <p:cNvPr id="15" name="Text 10"/>
          <p:cNvSpPr/>
          <p:nvPr/>
        </p:nvSpPr>
        <p:spPr>
          <a:xfrm>
            <a:off x="640080" y="1874520"/>
            <a:ext cx="7863840" cy="1828800"/>
          </a:xfrm>
          <a:prstGeom prst="rect">
            <a:avLst/>
          </a:prstGeom>
          <a:noFill/>
          <a:ln/>
        </p:spPr>
        <p:txBody>
          <a:bodyPr wrap="square" rtlCol="0" anchor="ctr"/>
          <a:lstStyle/>
          <a:p>
            <a:pPr marL="0" indent="0">
              <a:lnSpc>
                <a:spcPts val="4600"/>
              </a:lnSpc>
              <a:buNone/>
            </a:pPr>
            <a:r>
              <a:rPr lang="en-US" sz="4000" b="1" dirty="0">
                <a:solidFill>
                  <a:srgbClr val="FFFFFF"/>
                </a:solidFill>
                <a:latin typeface="Calibri" pitchFamily="34" charset="0"/>
                <a:ea typeface="Calibri" pitchFamily="34" charset="-122"/>
                <a:cs typeface="Calibri" pitchFamily="34" charset="-120"/>
              </a:rPr>
              <a:t>Food Delivery Analysis</a:t>
            </a:r>
            <a:endParaRPr lang="en-US" sz="4000" dirty="0"/>
          </a:p>
          <a:p>
            <a:pPr marL="0" indent="0">
              <a:lnSpc>
                <a:spcPts val="4600"/>
              </a:lnSpc>
              <a:buNone/>
            </a:pPr>
            <a:r>
              <a:rPr lang="en-US" sz="4000" b="1" dirty="0">
                <a:solidFill>
                  <a:srgbClr val="FFFFFF"/>
                </a:solidFill>
                <a:latin typeface="Calibri" pitchFamily="34" charset="0"/>
                <a:ea typeface="Calibri" pitchFamily="34" charset="-122"/>
                <a:cs typeface="Calibri" pitchFamily="34" charset="-120"/>
              </a:rPr>
              <a:t>Dashboard using Power BI</a:t>
            </a:r>
            <a:endParaRPr lang="en-US" sz="4000" dirty="0"/>
          </a:p>
        </p:txBody>
      </p:sp>
      <p:sp>
        <p:nvSpPr>
          <p:cNvPr id="16" name="Text 11"/>
          <p:cNvSpPr/>
          <p:nvPr/>
        </p:nvSpPr>
        <p:spPr>
          <a:xfrm>
            <a:off x="640080" y="3703320"/>
            <a:ext cx="7680960" cy="64008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Analyzing Orders, Revenue, Delivery Performance &amp; Restaurant Performance</a:t>
            </a:r>
            <a:endParaRPr lang="en-US" sz="1800" dirty="0"/>
          </a:p>
        </p:txBody>
      </p:sp>
      <p:sp>
        <p:nvSpPr>
          <p:cNvPr id="17" name="Shape 12"/>
          <p:cNvSpPr/>
          <p:nvPr/>
        </p:nvSpPr>
        <p:spPr>
          <a:xfrm>
            <a:off x="658368" y="5074920"/>
            <a:ext cx="2743200" cy="0"/>
          </a:xfrm>
          <a:prstGeom prst="line">
            <a:avLst/>
          </a:prstGeom>
          <a:noFill/>
          <a:ln w="25400">
            <a:solidFill>
              <a:srgbClr val="118DFF"/>
            </a:solidFill>
            <a:prstDash val="solid"/>
          </a:ln>
        </p:spPr>
        <p:txBody>
          <a:bodyPr/>
          <a:lstStyle/>
          <a:p>
            <a:endParaRPr lang="en-IN"/>
          </a:p>
        </p:txBody>
      </p:sp>
      <p:sp>
        <p:nvSpPr>
          <p:cNvPr id="18" name="Text 13"/>
          <p:cNvSpPr/>
          <p:nvPr/>
        </p:nvSpPr>
        <p:spPr>
          <a:xfrm>
            <a:off x="658368" y="5349240"/>
            <a:ext cx="1828800" cy="320040"/>
          </a:xfrm>
          <a:prstGeom prst="rect">
            <a:avLst/>
          </a:prstGeom>
          <a:noFill/>
          <a:ln/>
        </p:spPr>
        <p:txBody>
          <a:bodyPr wrap="square" rtlCol="0" anchor="ctr"/>
          <a:lstStyle/>
          <a:p>
            <a:pPr marL="0" indent="0">
              <a:buNone/>
            </a:pPr>
            <a:r>
              <a:rPr lang="en-US" sz="1300" dirty="0">
                <a:solidFill>
                  <a:srgbClr val="9FB3D6"/>
                </a:solidFill>
                <a:latin typeface="Calibri" pitchFamily="34" charset="0"/>
                <a:ea typeface="Calibri" pitchFamily="34" charset="-122"/>
                <a:cs typeface="Calibri" pitchFamily="34" charset="-120"/>
              </a:rPr>
              <a:t>Presented by:</a:t>
            </a:r>
            <a:endParaRPr lang="en-US" sz="1300" dirty="0"/>
          </a:p>
        </p:txBody>
      </p:sp>
      <p:sp>
        <p:nvSpPr>
          <p:cNvPr id="19" name="Text 14"/>
          <p:cNvSpPr/>
          <p:nvPr/>
        </p:nvSpPr>
        <p:spPr>
          <a:xfrm>
            <a:off x="2286000" y="5477256"/>
            <a:ext cx="3657600" cy="6400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Nikita Ranga</a:t>
            </a:r>
          </a:p>
          <a:p>
            <a:pPr marL="0" indent="0">
              <a:buNone/>
            </a:pPr>
            <a:r>
              <a:rPr lang="en-US" sz="1300" b="1" dirty="0">
                <a:solidFill>
                  <a:srgbClr val="FFFFFF"/>
                </a:solidFill>
                <a:latin typeface="Calibri" pitchFamily="34" charset="0"/>
                <a:ea typeface="Calibri" pitchFamily="34" charset="-122"/>
                <a:cs typeface="Calibri" pitchFamily="34" charset="-120"/>
              </a:rPr>
              <a:t>Aaditya Naik</a:t>
            </a:r>
          </a:p>
          <a:p>
            <a:pPr marL="0" indent="0">
              <a:buNone/>
            </a:pPr>
            <a:r>
              <a:rPr lang="en-US" sz="1300" b="1" dirty="0">
                <a:solidFill>
                  <a:srgbClr val="FFFFFF"/>
                </a:solidFill>
                <a:latin typeface="Calibri" pitchFamily="34" charset="0"/>
                <a:ea typeface="Calibri" pitchFamily="34" charset="-122"/>
                <a:cs typeface="Calibri" pitchFamily="34" charset="-120"/>
              </a:rPr>
              <a:t>Rutika Agre </a:t>
            </a:r>
          </a:p>
          <a:p>
            <a:pPr marL="0" indent="0">
              <a:buNone/>
            </a:pPr>
            <a:endParaRPr lang="en-US" sz="1300" dirty="0"/>
          </a:p>
        </p:txBody>
      </p:sp>
      <p:sp>
        <p:nvSpPr>
          <p:cNvPr id="20" name="Text 15"/>
          <p:cNvSpPr/>
          <p:nvPr/>
        </p:nvSpPr>
        <p:spPr>
          <a:xfrm>
            <a:off x="658368" y="5733288"/>
            <a:ext cx="1828800" cy="320040"/>
          </a:xfrm>
          <a:prstGeom prst="rect">
            <a:avLst/>
          </a:prstGeom>
          <a:noFill/>
          <a:ln/>
        </p:spPr>
        <p:txBody>
          <a:bodyPr wrap="square" rtlCol="0" anchor="ctr"/>
          <a:lstStyle/>
          <a:p>
            <a:pPr marL="0" indent="0">
              <a:buNone/>
            </a:pPr>
            <a:endParaRPr lang="en-US" sz="1300" dirty="0"/>
          </a:p>
        </p:txBody>
      </p:sp>
      <p:sp>
        <p:nvSpPr>
          <p:cNvPr id="22" name="Text 17"/>
          <p:cNvSpPr/>
          <p:nvPr/>
        </p:nvSpPr>
        <p:spPr>
          <a:xfrm>
            <a:off x="658368" y="6117336"/>
            <a:ext cx="1828800" cy="320040"/>
          </a:xfrm>
          <a:prstGeom prst="rect">
            <a:avLst/>
          </a:prstGeom>
          <a:noFill/>
          <a:ln/>
        </p:spPr>
        <p:txBody>
          <a:bodyPr wrap="square" rtlCol="0" anchor="ctr"/>
          <a:lstStyle/>
          <a:p>
            <a:pPr marL="0" indent="0">
              <a:buNone/>
            </a:pPr>
            <a:r>
              <a:rPr lang="en-US" sz="1300" dirty="0">
                <a:solidFill>
                  <a:srgbClr val="9FB3D6"/>
                </a:solidFill>
                <a:latin typeface="Calibri" pitchFamily="34" charset="0"/>
                <a:ea typeface="Calibri" pitchFamily="34" charset="-122"/>
                <a:cs typeface="Calibri" pitchFamily="34" charset="-120"/>
              </a:rPr>
              <a:t>College:</a:t>
            </a:r>
            <a:endParaRPr lang="en-US" sz="1300" dirty="0"/>
          </a:p>
        </p:txBody>
      </p:sp>
      <p:sp>
        <p:nvSpPr>
          <p:cNvPr id="23" name="Text 18"/>
          <p:cNvSpPr/>
          <p:nvPr/>
        </p:nvSpPr>
        <p:spPr>
          <a:xfrm>
            <a:off x="2286000" y="6117336"/>
            <a:ext cx="36576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B.R. Harne College of engineering and technology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7365D"/>
                </a:solidFill>
                <a:latin typeface="Calibri" pitchFamily="34" charset="0"/>
                <a:ea typeface="Calibri" pitchFamily="34" charset="-122"/>
                <a:cs typeface="Calibri" pitchFamily="34" charset="-120"/>
              </a:rPr>
              <a:t>Problem Statement &amp; Objectives</a:t>
            </a:r>
            <a:endParaRPr lang="en-US" sz="3000" dirty="0"/>
          </a:p>
        </p:txBody>
      </p:sp>
      <p:sp>
        <p:nvSpPr>
          <p:cNvPr id="3" name="Shape 1"/>
          <p:cNvSpPr/>
          <p:nvPr/>
        </p:nvSpPr>
        <p:spPr>
          <a:xfrm>
            <a:off x="548640" y="1234440"/>
            <a:ext cx="4663440" cy="5074920"/>
          </a:xfrm>
          <a:prstGeom prst="roundRect">
            <a:avLst>
              <a:gd name="adj" fmla="val 2353"/>
            </a:avLst>
          </a:prstGeom>
          <a:solidFill>
            <a:srgbClr val="17365D"/>
          </a:solidFill>
          <a:ln/>
          <a:effectLst>
            <a:outerShdw blurRad="76200" dist="25400" dir="5400000" algn="bl" rotWithShape="0">
              <a:srgbClr val="17365D">
                <a:alpha val="25000"/>
              </a:srgbClr>
            </a:outerShdw>
          </a:effectLst>
        </p:spPr>
        <p:txBody>
          <a:bodyPr/>
          <a:lstStyle/>
          <a:p>
            <a:endParaRPr lang="en-IN"/>
          </a:p>
        </p:txBody>
      </p:sp>
      <p:sp>
        <p:nvSpPr>
          <p:cNvPr id="4" name="Shape 2"/>
          <p:cNvSpPr/>
          <p:nvPr/>
        </p:nvSpPr>
        <p:spPr>
          <a:xfrm>
            <a:off x="914400" y="1600200"/>
            <a:ext cx="685800" cy="685800"/>
          </a:xfrm>
          <a:prstGeom prst="ellipse">
            <a:avLst/>
          </a:prstGeom>
          <a:solidFill>
            <a:srgbClr val="F2A900"/>
          </a:solidFill>
          <a:ln/>
        </p:spPr>
        <p:txBody>
          <a:bodyPr/>
          <a:lstStyle/>
          <a:p>
            <a:endParaRPr lang="en-IN"/>
          </a:p>
        </p:txBody>
      </p:sp>
      <p:pic>
        <p:nvPicPr>
          <p:cNvPr id="5" name="Image 0" descr="icons/bulb_navy.png"/>
          <p:cNvPicPr>
            <a:picLocks noChangeAspect="1"/>
          </p:cNvPicPr>
          <p:nvPr/>
        </p:nvPicPr>
        <p:blipFill>
          <a:blip r:embed="rId3"/>
          <a:stretch>
            <a:fillRect/>
          </a:stretch>
        </p:blipFill>
        <p:spPr>
          <a:xfrm>
            <a:off x="1099566" y="1785366"/>
            <a:ext cx="315468" cy="315468"/>
          </a:xfrm>
          <a:prstGeom prst="rect">
            <a:avLst/>
          </a:prstGeom>
        </p:spPr>
      </p:pic>
      <p:sp>
        <p:nvSpPr>
          <p:cNvPr id="6" name="Text 3"/>
          <p:cNvSpPr/>
          <p:nvPr/>
        </p:nvSpPr>
        <p:spPr>
          <a:xfrm>
            <a:off x="1783080" y="1645920"/>
            <a:ext cx="2926080" cy="548640"/>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The Problem</a:t>
            </a:r>
            <a:endParaRPr lang="en-US" sz="1900" dirty="0"/>
          </a:p>
        </p:txBody>
      </p:sp>
      <p:sp>
        <p:nvSpPr>
          <p:cNvPr id="7" name="Text 4"/>
          <p:cNvSpPr/>
          <p:nvPr/>
        </p:nvSpPr>
        <p:spPr>
          <a:xfrm>
            <a:off x="914400" y="2514600"/>
            <a:ext cx="3931920" cy="1463040"/>
          </a:xfrm>
          <a:prstGeom prst="rect">
            <a:avLst/>
          </a:prstGeom>
          <a:noFill/>
          <a:ln/>
        </p:spPr>
        <p:txBody>
          <a:bodyPr wrap="square" rtlCol="0" anchor="ctr"/>
          <a:lstStyle/>
          <a:p>
            <a:pPr marL="0" indent="0">
              <a:lnSpc>
                <a:spcPts val="2200"/>
              </a:lnSpc>
              <a:buNone/>
            </a:pPr>
            <a:r>
              <a:rPr lang="en-US" sz="1500" dirty="0">
                <a:solidFill>
                  <a:srgbClr val="D8E3F2"/>
                </a:solidFill>
                <a:latin typeface="Calibri" pitchFamily="34" charset="0"/>
                <a:ea typeface="Calibri" pitchFamily="34" charset="-122"/>
                <a:cs typeface="Calibri" pitchFamily="34" charset="-120"/>
              </a:rPr>
              <a:t>Food delivery companies receive thousands of orders daily. Monitoring delivery performance, customer satisfaction, and restaurant performance manually is challenging.</a:t>
            </a:r>
            <a:endParaRPr lang="en-US" sz="1500" dirty="0"/>
          </a:p>
        </p:txBody>
      </p:sp>
      <p:sp>
        <p:nvSpPr>
          <p:cNvPr id="8" name="Shape 5"/>
          <p:cNvSpPr/>
          <p:nvPr/>
        </p:nvSpPr>
        <p:spPr>
          <a:xfrm>
            <a:off x="914400" y="4160520"/>
            <a:ext cx="3931920" cy="0"/>
          </a:xfrm>
          <a:prstGeom prst="line">
            <a:avLst/>
          </a:prstGeom>
          <a:noFill/>
          <a:ln w="12700">
            <a:solidFill>
              <a:srgbClr val="355C86"/>
            </a:solidFill>
            <a:prstDash val="solid"/>
          </a:ln>
        </p:spPr>
        <p:txBody>
          <a:bodyPr/>
          <a:lstStyle/>
          <a:p>
            <a:endParaRPr lang="en-IN"/>
          </a:p>
        </p:txBody>
      </p:sp>
      <p:sp>
        <p:nvSpPr>
          <p:cNvPr id="9" name="Text 6"/>
          <p:cNvSpPr/>
          <p:nvPr/>
        </p:nvSpPr>
        <p:spPr>
          <a:xfrm>
            <a:off x="914400" y="4389120"/>
            <a:ext cx="3931920" cy="1371600"/>
          </a:xfrm>
          <a:prstGeom prst="rect">
            <a:avLst/>
          </a:prstGeom>
          <a:noFill/>
          <a:ln/>
        </p:spPr>
        <p:txBody>
          <a:bodyPr wrap="square" rtlCol="0" anchor="ctr"/>
          <a:lstStyle/>
          <a:p>
            <a:pPr marL="0" indent="0">
              <a:lnSpc>
                <a:spcPts val="2000"/>
              </a:lnSpc>
              <a:buNone/>
            </a:pPr>
            <a:r>
              <a:rPr lang="en-US" sz="1400" i="1" dirty="0">
                <a:solidFill>
                  <a:srgbClr val="CADCFC"/>
                </a:solidFill>
                <a:latin typeface="Calibri" pitchFamily="34" charset="0"/>
                <a:ea typeface="Calibri" pitchFamily="34" charset="-122"/>
                <a:cs typeface="Calibri" pitchFamily="34" charset="-120"/>
              </a:rPr>
              <a:t>A centralized Power BI dashboard is needed to convert raw order data into actionable, real-time operational insight.</a:t>
            </a:r>
            <a:endParaRPr lang="en-US" sz="1400" dirty="0"/>
          </a:p>
        </p:txBody>
      </p:sp>
      <p:sp>
        <p:nvSpPr>
          <p:cNvPr id="10" name="Text 7"/>
          <p:cNvSpPr/>
          <p:nvPr/>
        </p:nvSpPr>
        <p:spPr>
          <a:xfrm>
            <a:off x="5532120" y="1234440"/>
            <a:ext cx="6108192" cy="365760"/>
          </a:xfrm>
          <a:prstGeom prst="rect">
            <a:avLst/>
          </a:prstGeom>
          <a:noFill/>
          <a:ln/>
        </p:spPr>
        <p:txBody>
          <a:bodyPr wrap="square" rtlCol="0" anchor="ctr"/>
          <a:lstStyle/>
          <a:p>
            <a:pPr marL="0" indent="0">
              <a:buNone/>
            </a:pPr>
            <a:r>
              <a:rPr lang="en-US" sz="1600" b="1" dirty="0">
                <a:solidFill>
                  <a:srgbClr val="17365D"/>
                </a:solidFill>
                <a:latin typeface="Calibri" pitchFamily="34" charset="0"/>
                <a:ea typeface="Calibri" pitchFamily="34" charset="-122"/>
                <a:cs typeface="Calibri" pitchFamily="34" charset="-120"/>
              </a:rPr>
              <a:t>Project Objectives</a:t>
            </a:r>
            <a:endParaRPr lang="en-US" sz="1600" dirty="0"/>
          </a:p>
        </p:txBody>
      </p:sp>
      <p:sp>
        <p:nvSpPr>
          <p:cNvPr id="11" name="Shape 8"/>
          <p:cNvSpPr/>
          <p:nvPr/>
        </p:nvSpPr>
        <p:spPr>
          <a:xfrm>
            <a:off x="5532120" y="1691640"/>
            <a:ext cx="6108192" cy="841248"/>
          </a:xfrm>
          <a:prstGeom prst="roundRect">
            <a:avLst>
              <a:gd name="adj" fmla="val 10870"/>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12" name="Text 9"/>
          <p:cNvSpPr/>
          <p:nvPr/>
        </p:nvSpPr>
        <p:spPr>
          <a:xfrm>
            <a:off x="5696712" y="1691640"/>
            <a:ext cx="640080" cy="841248"/>
          </a:xfrm>
          <a:prstGeom prst="rect">
            <a:avLst/>
          </a:prstGeom>
          <a:noFill/>
          <a:ln/>
        </p:spPr>
        <p:txBody>
          <a:bodyPr wrap="square" rtlCol="0" anchor="ctr"/>
          <a:lstStyle/>
          <a:p>
            <a:pPr marL="0" indent="0">
              <a:buNone/>
            </a:pPr>
            <a:r>
              <a:rPr lang="en-US" sz="2000" b="1" dirty="0">
                <a:solidFill>
                  <a:srgbClr val="C7D4E6"/>
                </a:solidFill>
                <a:latin typeface="Calibri" pitchFamily="34" charset="0"/>
                <a:ea typeface="Calibri" pitchFamily="34" charset="-122"/>
                <a:cs typeface="Calibri" pitchFamily="34" charset="-120"/>
              </a:rPr>
              <a:t>01</a:t>
            </a:r>
            <a:endParaRPr lang="en-US" sz="2000" dirty="0"/>
          </a:p>
        </p:txBody>
      </p:sp>
      <p:sp>
        <p:nvSpPr>
          <p:cNvPr id="13" name="Shape 10"/>
          <p:cNvSpPr/>
          <p:nvPr/>
        </p:nvSpPr>
        <p:spPr>
          <a:xfrm>
            <a:off x="6400800" y="1860804"/>
            <a:ext cx="502920" cy="502920"/>
          </a:xfrm>
          <a:prstGeom prst="ellipse">
            <a:avLst/>
          </a:prstGeom>
          <a:solidFill>
            <a:srgbClr val="118DFF"/>
          </a:solidFill>
          <a:ln/>
        </p:spPr>
        <p:txBody>
          <a:bodyPr/>
          <a:lstStyle/>
          <a:p>
            <a:endParaRPr lang="en-IN"/>
          </a:p>
        </p:txBody>
      </p:sp>
      <p:pic>
        <p:nvPicPr>
          <p:cNvPr id="14" name="Image 1" descr="icons/orders_white.png"/>
          <p:cNvPicPr>
            <a:picLocks noChangeAspect="1"/>
          </p:cNvPicPr>
          <p:nvPr/>
        </p:nvPicPr>
        <p:blipFill>
          <a:blip r:embed="rId4"/>
          <a:stretch>
            <a:fillRect/>
          </a:stretch>
        </p:blipFill>
        <p:spPr>
          <a:xfrm>
            <a:off x="6536588" y="1996592"/>
            <a:ext cx="231343" cy="231343"/>
          </a:xfrm>
          <a:prstGeom prst="rect">
            <a:avLst/>
          </a:prstGeom>
        </p:spPr>
      </p:pic>
      <p:sp>
        <p:nvSpPr>
          <p:cNvPr id="15" name="Text 11"/>
          <p:cNvSpPr/>
          <p:nvPr/>
        </p:nvSpPr>
        <p:spPr>
          <a:xfrm>
            <a:off x="7086600" y="1764792"/>
            <a:ext cx="4279392" cy="365760"/>
          </a:xfrm>
          <a:prstGeom prst="rect">
            <a:avLst/>
          </a:prstGeom>
          <a:noFill/>
          <a:ln/>
        </p:spPr>
        <p:txBody>
          <a:bodyPr wrap="square" rtlCol="0" anchor="ctr"/>
          <a:lstStyle/>
          <a:p>
            <a:pPr marL="0" indent="0">
              <a:buNone/>
            </a:pPr>
            <a:r>
              <a:rPr lang="en-US" sz="1450" b="1" dirty="0">
                <a:solidFill>
                  <a:srgbClr val="17365D"/>
                </a:solidFill>
                <a:latin typeface="Calibri" pitchFamily="34" charset="0"/>
                <a:ea typeface="Calibri" pitchFamily="34" charset="-122"/>
                <a:cs typeface="Calibri" pitchFamily="34" charset="-120"/>
              </a:rPr>
              <a:t>Orders &amp; Revenue</a:t>
            </a:r>
            <a:endParaRPr lang="en-US" sz="1450" dirty="0"/>
          </a:p>
        </p:txBody>
      </p:sp>
      <p:sp>
        <p:nvSpPr>
          <p:cNvPr id="16" name="Text 12"/>
          <p:cNvSpPr/>
          <p:nvPr/>
        </p:nvSpPr>
        <p:spPr>
          <a:xfrm>
            <a:off x="7086600" y="2112264"/>
            <a:ext cx="4279392" cy="36576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Track total orders and revenue</a:t>
            </a:r>
            <a:endParaRPr lang="en-US" sz="1200" dirty="0"/>
          </a:p>
        </p:txBody>
      </p:sp>
      <p:sp>
        <p:nvSpPr>
          <p:cNvPr id="17" name="Shape 13"/>
          <p:cNvSpPr/>
          <p:nvPr/>
        </p:nvSpPr>
        <p:spPr>
          <a:xfrm>
            <a:off x="5532120" y="2642616"/>
            <a:ext cx="6108192" cy="841248"/>
          </a:xfrm>
          <a:prstGeom prst="roundRect">
            <a:avLst>
              <a:gd name="adj" fmla="val 10870"/>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18" name="Text 14"/>
          <p:cNvSpPr/>
          <p:nvPr/>
        </p:nvSpPr>
        <p:spPr>
          <a:xfrm>
            <a:off x="5696712" y="2642616"/>
            <a:ext cx="640080" cy="841248"/>
          </a:xfrm>
          <a:prstGeom prst="rect">
            <a:avLst/>
          </a:prstGeom>
          <a:noFill/>
          <a:ln/>
        </p:spPr>
        <p:txBody>
          <a:bodyPr wrap="square" rtlCol="0" anchor="ctr"/>
          <a:lstStyle/>
          <a:p>
            <a:pPr marL="0" indent="0">
              <a:buNone/>
            </a:pPr>
            <a:r>
              <a:rPr lang="en-US" sz="2000" b="1" dirty="0">
                <a:solidFill>
                  <a:srgbClr val="C7D4E6"/>
                </a:solidFill>
                <a:latin typeface="Calibri" pitchFamily="34" charset="0"/>
                <a:ea typeface="Calibri" pitchFamily="34" charset="-122"/>
                <a:cs typeface="Calibri" pitchFamily="34" charset="-120"/>
              </a:rPr>
              <a:t>02</a:t>
            </a:r>
            <a:endParaRPr lang="en-US" sz="2000" dirty="0"/>
          </a:p>
        </p:txBody>
      </p:sp>
      <p:sp>
        <p:nvSpPr>
          <p:cNvPr id="19" name="Shape 15"/>
          <p:cNvSpPr/>
          <p:nvPr/>
        </p:nvSpPr>
        <p:spPr>
          <a:xfrm>
            <a:off x="6400800" y="2811780"/>
            <a:ext cx="502920" cy="502920"/>
          </a:xfrm>
          <a:prstGeom prst="ellipse">
            <a:avLst/>
          </a:prstGeom>
          <a:solidFill>
            <a:srgbClr val="118DFF"/>
          </a:solidFill>
          <a:ln/>
        </p:spPr>
        <p:txBody>
          <a:bodyPr/>
          <a:lstStyle/>
          <a:p>
            <a:endParaRPr lang="en-IN"/>
          </a:p>
        </p:txBody>
      </p:sp>
      <p:pic>
        <p:nvPicPr>
          <p:cNvPr id="20" name="Image 2" descr="icons/delivery_white.png"/>
          <p:cNvPicPr>
            <a:picLocks noChangeAspect="1"/>
          </p:cNvPicPr>
          <p:nvPr/>
        </p:nvPicPr>
        <p:blipFill>
          <a:blip r:embed="rId5"/>
          <a:stretch>
            <a:fillRect/>
          </a:stretch>
        </p:blipFill>
        <p:spPr>
          <a:xfrm>
            <a:off x="6536588" y="2947568"/>
            <a:ext cx="231343" cy="231343"/>
          </a:xfrm>
          <a:prstGeom prst="rect">
            <a:avLst/>
          </a:prstGeom>
        </p:spPr>
      </p:pic>
      <p:sp>
        <p:nvSpPr>
          <p:cNvPr id="21" name="Text 16"/>
          <p:cNvSpPr/>
          <p:nvPr/>
        </p:nvSpPr>
        <p:spPr>
          <a:xfrm>
            <a:off x="7086600" y="2715768"/>
            <a:ext cx="4279392" cy="365760"/>
          </a:xfrm>
          <a:prstGeom prst="rect">
            <a:avLst/>
          </a:prstGeom>
          <a:noFill/>
          <a:ln/>
        </p:spPr>
        <p:txBody>
          <a:bodyPr wrap="square" rtlCol="0" anchor="ctr"/>
          <a:lstStyle/>
          <a:p>
            <a:pPr marL="0" indent="0">
              <a:buNone/>
            </a:pPr>
            <a:r>
              <a:rPr lang="en-US" sz="1450" b="1" dirty="0">
                <a:solidFill>
                  <a:srgbClr val="17365D"/>
                </a:solidFill>
                <a:latin typeface="Calibri" pitchFamily="34" charset="0"/>
                <a:ea typeface="Calibri" pitchFamily="34" charset="-122"/>
                <a:cs typeface="Calibri" pitchFamily="34" charset="-120"/>
              </a:rPr>
              <a:t>Delivery Performance</a:t>
            </a:r>
            <a:endParaRPr lang="en-US" sz="1450" dirty="0"/>
          </a:p>
        </p:txBody>
      </p:sp>
      <p:sp>
        <p:nvSpPr>
          <p:cNvPr id="22" name="Text 17"/>
          <p:cNvSpPr/>
          <p:nvPr/>
        </p:nvSpPr>
        <p:spPr>
          <a:xfrm>
            <a:off x="7086600" y="3063240"/>
            <a:ext cx="4279392" cy="36576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Analyze delivery performance</a:t>
            </a:r>
            <a:endParaRPr lang="en-US" sz="1200" dirty="0"/>
          </a:p>
        </p:txBody>
      </p:sp>
      <p:sp>
        <p:nvSpPr>
          <p:cNvPr id="23" name="Shape 18"/>
          <p:cNvSpPr/>
          <p:nvPr/>
        </p:nvSpPr>
        <p:spPr>
          <a:xfrm>
            <a:off x="5532120" y="3593592"/>
            <a:ext cx="6108192" cy="841248"/>
          </a:xfrm>
          <a:prstGeom prst="roundRect">
            <a:avLst>
              <a:gd name="adj" fmla="val 10870"/>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24" name="Text 19"/>
          <p:cNvSpPr/>
          <p:nvPr/>
        </p:nvSpPr>
        <p:spPr>
          <a:xfrm>
            <a:off x="5696712" y="3593592"/>
            <a:ext cx="640080" cy="841248"/>
          </a:xfrm>
          <a:prstGeom prst="rect">
            <a:avLst/>
          </a:prstGeom>
          <a:noFill/>
          <a:ln/>
        </p:spPr>
        <p:txBody>
          <a:bodyPr wrap="square" rtlCol="0" anchor="ctr"/>
          <a:lstStyle/>
          <a:p>
            <a:pPr marL="0" indent="0">
              <a:buNone/>
            </a:pPr>
            <a:r>
              <a:rPr lang="en-US" sz="2000" b="1" dirty="0">
                <a:solidFill>
                  <a:srgbClr val="C7D4E6"/>
                </a:solidFill>
                <a:latin typeface="Calibri" pitchFamily="34" charset="0"/>
                <a:ea typeface="Calibri" pitchFamily="34" charset="-122"/>
                <a:cs typeface="Calibri" pitchFamily="34" charset="-120"/>
              </a:rPr>
              <a:t>03</a:t>
            </a:r>
            <a:endParaRPr lang="en-US" sz="2000" dirty="0"/>
          </a:p>
        </p:txBody>
      </p:sp>
      <p:sp>
        <p:nvSpPr>
          <p:cNvPr id="25" name="Shape 20"/>
          <p:cNvSpPr/>
          <p:nvPr/>
        </p:nvSpPr>
        <p:spPr>
          <a:xfrm>
            <a:off x="6400800" y="3762756"/>
            <a:ext cx="502920" cy="502920"/>
          </a:xfrm>
          <a:prstGeom prst="ellipse">
            <a:avLst/>
          </a:prstGeom>
          <a:solidFill>
            <a:srgbClr val="118DFF"/>
          </a:solidFill>
          <a:ln/>
        </p:spPr>
        <p:txBody>
          <a:bodyPr/>
          <a:lstStyle/>
          <a:p>
            <a:endParaRPr lang="en-IN"/>
          </a:p>
        </p:txBody>
      </p:sp>
      <p:pic>
        <p:nvPicPr>
          <p:cNvPr id="26" name="Image 3" descr="icons/category_white.png"/>
          <p:cNvPicPr>
            <a:picLocks noChangeAspect="1"/>
          </p:cNvPicPr>
          <p:nvPr/>
        </p:nvPicPr>
        <p:blipFill>
          <a:blip r:embed="rId6"/>
          <a:stretch>
            <a:fillRect/>
          </a:stretch>
        </p:blipFill>
        <p:spPr>
          <a:xfrm>
            <a:off x="6536588" y="3898544"/>
            <a:ext cx="231343" cy="231343"/>
          </a:xfrm>
          <a:prstGeom prst="rect">
            <a:avLst/>
          </a:prstGeom>
        </p:spPr>
      </p:pic>
      <p:sp>
        <p:nvSpPr>
          <p:cNvPr id="27" name="Text 21"/>
          <p:cNvSpPr/>
          <p:nvPr/>
        </p:nvSpPr>
        <p:spPr>
          <a:xfrm>
            <a:off x="7086600" y="3666744"/>
            <a:ext cx="4279392" cy="365760"/>
          </a:xfrm>
          <a:prstGeom prst="rect">
            <a:avLst/>
          </a:prstGeom>
          <a:noFill/>
          <a:ln/>
        </p:spPr>
        <p:txBody>
          <a:bodyPr wrap="square" rtlCol="0" anchor="ctr"/>
          <a:lstStyle/>
          <a:p>
            <a:pPr marL="0" indent="0">
              <a:buNone/>
            </a:pPr>
            <a:r>
              <a:rPr lang="en-US" sz="1450" b="1" dirty="0">
                <a:solidFill>
                  <a:srgbClr val="17365D"/>
                </a:solidFill>
                <a:latin typeface="Calibri" pitchFamily="34" charset="0"/>
                <a:ea typeface="Calibri" pitchFamily="34" charset="-122"/>
                <a:cs typeface="Calibri" pitchFamily="34" charset="-120"/>
              </a:rPr>
              <a:t>Food Categories</a:t>
            </a:r>
            <a:endParaRPr lang="en-US" sz="1450" dirty="0"/>
          </a:p>
        </p:txBody>
      </p:sp>
      <p:sp>
        <p:nvSpPr>
          <p:cNvPr id="28" name="Text 22"/>
          <p:cNvSpPr/>
          <p:nvPr/>
        </p:nvSpPr>
        <p:spPr>
          <a:xfrm>
            <a:off x="7086600" y="4014216"/>
            <a:ext cx="4279392" cy="36576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Identify popular food categories</a:t>
            </a:r>
            <a:endParaRPr lang="en-US" sz="1200" dirty="0"/>
          </a:p>
        </p:txBody>
      </p:sp>
      <p:sp>
        <p:nvSpPr>
          <p:cNvPr id="29" name="Shape 23"/>
          <p:cNvSpPr/>
          <p:nvPr/>
        </p:nvSpPr>
        <p:spPr>
          <a:xfrm>
            <a:off x="5532120" y="4544568"/>
            <a:ext cx="6108192" cy="841248"/>
          </a:xfrm>
          <a:prstGeom prst="roundRect">
            <a:avLst>
              <a:gd name="adj" fmla="val 10870"/>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30" name="Text 24"/>
          <p:cNvSpPr/>
          <p:nvPr/>
        </p:nvSpPr>
        <p:spPr>
          <a:xfrm>
            <a:off x="5696712" y="4544568"/>
            <a:ext cx="640080" cy="841248"/>
          </a:xfrm>
          <a:prstGeom prst="rect">
            <a:avLst/>
          </a:prstGeom>
          <a:noFill/>
          <a:ln/>
        </p:spPr>
        <p:txBody>
          <a:bodyPr wrap="square" rtlCol="0" anchor="ctr"/>
          <a:lstStyle/>
          <a:p>
            <a:pPr marL="0" indent="0">
              <a:buNone/>
            </a:pPr>
            <a:r>
              <a:rPr lang="en-US" sz="2000" b="1" dirty="0">
                <a:solidFill>
                  <a:srgbClr val="C7D4E6"/>
                </a:solidFill>
                <a:latin typeface="Calibri" pitchFamily="34" charset="0"/>
                <a:ea typeface="Calibri" pitchFamily="34" charset="-122"/>
                <a:cs typeface="Calibri" pitchFamily="34" charset="-120"/>
              </a:rPr>
              <a:t>04</a:t>
            </a:r>
            <a:endParaRPr lang="en-US" sz="2000" dirty="0"/>
          </a:p>
        </p:txBody>
      </p:sp>
      <p:sp>
        <p:nvSpPr>
          <p:cNvPr id="31" name="Shape 25"/>
          <p:cNvSpPr/>
          <p:nvPr/>
        </p:nvSpPr>
        <p:spPr>
          <a:xfrm>
            <a:off x="6400800" y="4713732"/>
            <a:ext cx="502920" cy="502920"/>
          </a:xfrm>
          <a:prstGeom prst="ellipse">
            <a:avLst/>
          </a:prstGeom>
          <a:solidFill>
            <a:srgbClr val="118DFF"/>
          </a:solidFill>
          <a:ln/>
        </p:spPr>
        <p:txBody>
          <a:bodyPr/>
          <a:lstStyle/>
          <a:p>
            <a:endParaRPr lang="en-IN"/>
          </a:p>
        </p:txBody>
      </p:sp>
      <p:pic>
        <p:nvPicPr>
          <p:cNvPr id="32" name="Image 4" descr="icons/rating_white.png"/>
          <p:cNvPicPr>
            <a:picLocks noChangeAspect="1"/>
          </p:cNvPicPr>
          <p:nvPr/>
        </p:nvPicPr>
        <p:blipFill>
          <a:blip r:embed="rId7"/>
          <a:stretch>
            <a:fillRect/>
          </a:stretch>
        </p:blipFill>
        <p:spPr>
          <a:xfrm>
            <a:off x="6536588" y="4849520"/>
            <a:ext cx="231343" cy="231343"/>
          </a:xfrm>
          <a:prstGeom prst="rect">
            <a:avLst/>
          </a:prstGeom>
        </p:spPr>
      </p:pic>
      <p:sp>
        <p:nvSpPr>
          <p:cNvPr id="33" name="Text 26"/>
          <p:cNvSpPr/>
          <p:nvPr/>
        </p:nvSpPr>
        <p:spPr>
          <a:xfrm>
            <a:off x="7086600" y="4617720"/>
            <a:ext cx="4279392" cy="365760"/>
          </a:xfrm>
          <a:prstGeom prst="rect">
            <a:avLst/>
          </a:prstGeom>
          <a:noFill/>
          <a:ln/>
        </p:spPr>
        <p:txBody>
          <a:bodyPr wrap="square" rtlCol="0" anchor="ctr"/>
          <a:lstStyle/>
          <a:p>
            <a:pPr marL="0" indent="0">
              <a:buNone/>
            </a:pPr>
            <a:r>
              <a:rPr lang="en-US" sz="1450" b="1" dirty="0">
                <a:solidFill>
                  <a:srgbClr val="17365D"/>
                </a:solidFill>
                <a:latin typeface="Calibri" pitchFamily="34" charset="0"/>
                <a:ea typeface="Calibri" pitchFamily="34" charset="-122"/>
                <a:cs typeface="Calibri" pitchFamily="34" charset="-120"/>
              </a:rPr>
              <a:t>Customer Ratings</a:t>
            </a:r>
            <a:endParaRPr lang="en-US" sz="1450" dirty="0"/>
          </a:p>
        </p:txBody>
      </p:sp>
      <p:sp>
        <p:nvSpPr>
          <p:cNvPr id="34" name="Text 27"/>
          <p:cNvSpPr/>
          <p:nvPr/>
        </p:nvSpPr>
        <p:spPr>
          <a:xfrm>
            <a:off x="7086600" y="4965192"/>
            <a:ext cx="4279392" cy="36576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Monitor customer ratings</a:t>
            </a:r>
            <a:endParaRPr lang="en-US" sz="1200" dirty="0"/>
          </a:p>
        </p:txBody>
      </p:sp>
      <p:sp>
        <p:nvSpPr>
          <p:cNvPr id="35" name="Shape 28"/>
          <p:cNvSpPr/>
          <p:nvPr/>
        </p:nvSpPr>
        <p:spPr>
          <a:xfrm>
            <a:off x="5532120" y="5495544"/>
            <a:ext cx="6108192" cy="841248"/>
          </a:xfrm>
          <a:prstGeom prst="roundRect">
            <a:avLst>
              <a:gd name="adj" fmla="val 10870"/>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36" name="Text 29"/>
          <p:cNvSpPr/>
          <p:nvPr/>
        </p:nvSpPr>
        <p:spPr>
          <a:xfrm>
            <a:off x="5696712" y="5495544"/>
            <a:ext cx="640080" cy="841248"/>
          </a:xfrm>
          <a:prstGeom prst="rect">
            <a:avLst/>
          </a:prstGeom>
          <a:noFill/>
          <a:ln/>
        </p:spPr>
        <p:txBody>
          <a:bodyPr wrap="square" rtlCol="0" anchor="ctr"/>
          <a:lstStyle/>
          <a:p>
            <a:pPr marL="0" indent="0">
              <a:buNone/>
            </a:pPr>
            <a:r>
              <a:rPr lang="en-US" sz="2000" b="1" dirty="0">
                <a:solidFill>
                  <a:srgbClr val="C7D4E6"/>
                </a:solidFill>
                <a:latin typeface="Calibri" pitchFamily="34" charset="0"/>
                <a:ea typeface="Calibri" pitchFamily="34" charset="-122"/>
                <a:cs typeface="Calibri" pitchFamily="34" charset="-120"/>
              </a:rPr>
              <a:t>05</a:t>
            </a:r>
            <a:endParaRPr lang="en-US" sz="2000" dirty="0"/>
          </a:p>
        </p:txBody>
      </p:sp>
      <p:sp>
        <p:nvSpPr>
          <p:cNvPr id="37" name="Shape 30"/>
          <p:cNvSpPr/>
          <p:nvPr/>
        </p:nvSpPr>
        <p:spPr>
          <a:xfrm>
            <a:off x="6400800" y="5664708"/>
            <a:ext cx="502920" cy="502920"/>
          </a:xfrm>
          <a:prstGeom prst="ellipse">
            <a:avLst/>
          </a:prstGeom>
          <a:solidFill>
            <a:srgbClr val="118DFF"/>
          </a:solidFill>
          <a:ln/>
        </p:spPr>
        <p:txBody>
          <a:bodyPr/>
          <a:lstStyle/>
          <a:p>
            <a:endParaRPr lang="en-IN"/>
          </a:p>
        </p:txBody>
      </p:sp>
      <p:pic>
        <p:nvPicPr>
          <p:cNvPr id="38" name="Image 5" descr="icons/restaurant_white.png"/>
          <p:cNvPicPr>
            <a:picLocks noChangeAspect="1"/>
          </p:cNvPicPr>
          <p:nvPr/>
        </p:nvPicPr>
        <p:blipFill>
          <a:blip r:embed="rId8"/>
          <a:stretch>
            <a:fillRect/>
          </a:stretch>
        </p:blipFill>
        <p:spPr>
          <a:xfrm>
            <a:off x="6536588" y="5800496"/>
            <a:ext cx="231343" cy="231343"/>
          </a:xfrm>
          <a:prstGeom prst="rect">
            <a:avLst/>
          </a:prstGeom>
        </p:spPr>
      </p:pic>
      <p:sp>
        <p:nvSpPr>
          <p:cNvPr id="39" name="Text 31"/>
          <p:cNvSpPr/>
          <p:nvPr/>
        </p:nvSpPr>
        <p:spPr>
          <a:xfrm>
            <a:off x="7086600" y="5568696"/>
            <a:ext cx="4279392" cy="365760"/>
          </a:xfrm>
          <a:prstGeom prst="rect">
            <a:avLst/>
          </a:prstGeom>
          <a:noFill/>
          <a:ln/>
        </p:spPr>
        <p:txBody>
          <a:bodyPr wrap="square" rtlCol="0" anchor="ctr"/>
          <a:lstStyle/>
          <a:p>
            <a:pPr marL="0" indent="0">
              <a:buNone/>
            </a:pPr>
            <a:r>
              <a:rPr lang="en-US" sz="1450" b="1" dirty="0">
                <a:solidFill>
                  <a:srgbClr val="17365D"/>
                </a:solidFill>
                <a:latin typeface="Calibri" pitchFamily="34" charset="0"/>
                <a:ea typeface="Calibri" pitchFamily="34" charset="-122"/>
                <a:cs typeface="Calibri" pitchFamily="34" charset="-120"/>
              </a:rPr>
              <a:t>Restaurant Performance</a:t>
            </a:r>
            <a:endParaRPr lang="en-US" sz="1450" dirty="0"/>
          </a:p>
        </p:txBody>
      </p:sp>
      <p:sp>
        <p:nvSpPr>
          <p:cNvPr id="40" name="Text 32"/>
          <p:cNvSpPr/>
          <p:nvPr/>
        </p:nvSpPr>
        <p:spPr>
          <a:xfrm>
            <a:off x="7086600" y="5916168"/>
            <a:ext cx="4279392" cy="365760"/>
          </a:xfrm>
          <a:prstGeom prst="rect">
            <a:avLst/>
          </a:prstGeom>
          <a:noFill/>
          <a:ln/>
        </p:spPr>
        <p:txBody>
          <a:bodyPr wrap="square" rtlCol="0" anchor="ctr"/>
          <a:lstStyle/>
          <a:p>
            <a:pPr marL="0" indent="0">
              <a:buNone/>
            </a:pPr>
            <a:r>
              <a:rPr lang="en-US" sz="1200" dirty="0">
                <a:solidFill>
                  <a:srgbClr val="666666"/>
                </a:solidFill>
                <a:latin typeface="Calibri" pitchFamily="34" charset="0"/>
                <a:ea typeface="Calibri" pitchFamily="34" charset="-122"/>
                <a:cs typeface="Calibri" pitchFamily="34" charset="-120"/>
              </a:rPr>
              <a:t>Evaluate restaurant performance</a:t>
            </a:r>
            <a:endParaRPr lang="en-US" sz="1200" dirty="0"/>
          </a:p>
        </p:txBody>
      </p:sp>
      <p:sp>
        <p:nvSpPr>
          <p:cNvPr id="42" name="Text 34"/>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7365D"/>
                </a:solidFill>
                <a:latin typeface="Calibri" pitchFamily="34" charset="0"/>
                <a:ea typeface="Calibri" pitchFamily="34" charset="-122"/>
                <a:cs typeface="Calibri" pitchFamily="34" charset="-120"/>
              </a:rPr>
              <a:t>Tools &amp; Dataset</a:t>
            </a:r>
            <a:endParaRPr lang="en-US" sz="3000" dirty="0"/>
          </a:p>
        </p:txBody>
      </p:sp>
      <p:sp>
        <p:nvSpPr>
          <p:cNvPr id="3" name="Text 1"/>
          <p:cNvSpPr/>
          <p:nvPr/>
        </p:nvSpPr>
        <p:spPr>
          <a:xfrm>
            <a:off x="548640" y="1188720"/>
            <a:ext cx="5212080" cy="365760"/>
          </a:xfrm>
          <a:prstGeom prst="rect">
            <a:avLst/>
          </a:prstGeom>
          <a:noFill/>
          <a:ln/>
        </p:spPr>
        <p:txBody>
          <a:bodyPr wrap="square" rtlCol="0" anchor="ctr"/>
          <a:lstStyle/>
          <a:p>
            <a:pPr marL="0" indent="0">
              <a:buNone/>
            </a:pPr>
            <a:r>
              <a:rPr lang="en-US" sz="1600" b="1" dirty="0">
                <a:solidFill>
                  <a:srgbClr val="17365D"/>
                </a:solidFill>
                <a:latin typeface="Calibri" pitchFamily="34" charset="0"/>
                <a:ea typeface="Calibri" pitchFamily="34" charset="-122"/>
                <a:cs typeface="Calibri" pitchFamily="34" charset="-120"/>
              </a:rPr>
              <a:t>Tools Used</a:t>
            </a:r>
            <a:endParaRPr lang="en-US" sz="1600" dirty="0"/>
          </a:p>
        </p:txBody>
      </p:sp>
      <p:grpSp>
        <p:nvGrpSpPr>
          <p:cNvPr id="54" name="Group 53">
            <a:extLst>
              <a:ext uri="{FF2B5EF4-FFF2-40B4-BE49-F238E27FC236}">
                <a16:creationId xmlns:a16="http://schemas.microsoft.com/office/drawing/2014/main" id="{AED49244-492D-F49B-6903-6E729DAD5F5B}"/>
              </a:ext>
            </a:extLst>
          </p:cNvPr>
          <p:cNvGrpSpPr/>
          <p:nvPr/>
        </p:nvGrpSpPr>
        <p:grpSpPr>
          <a:xfrm>
            <a:off x="3257550" y="1627272"/>
            <a:ext cx="2491740" cy="1600200"/>
            <a:chOff x="548640" y="1691640"/>
            <a:chExt cx="2491740" cy="1600200"/>
          </a:xfrm>
        </p:grpSpPr>
        <p:sp>
          <p:nvSpPr>
            <p:cNvPr id="4" name="Shape 2"/>
            <p:cNvSpPr/>
            <p:nvPr/>
          </p:nvSpPr>
          <p:spPr>
            <a:xfrm>
              <a:off x="548640" y="1691640"/>
              <a:ext cx="2491740"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dirty="0"/>
            </a:p>
          </p:txBody>
        </p:sp>
        <p:sp>
          <p:nvSpPr>
            <p:cNvPr id="5" name="Shape 3"/>
            <p:cNvSpPr/>
            <p:nvPr/>
          </p:nvSpPr>
          <p:spPr>
            <a:xfrm>
              <a:off x="777240" y="1920240"/>
              <a:ext cx="548640" cy="548640"/>
            </a:xfrm>
            <a:prstGeom prst="ellipse">
              <a:avLst/>
            </a:prstGeom>
            <a:solidFill>
              <a:srgbClr val="17365D"/>
            </a:solidFill>
            <a:ln/>
          </p:spPr>
          <p:txBody>
            <a:bodyPr/>
            <a:lstStyle/>
            <a:p>
              <a:endParaRPr lang="en-IN"/>
            </a:p>
          </p:txBody>
        </p:sp>
        <p:pic>
          <p:nvPicPr>
            <p:cNvPr id="6" name="Image 0" descr="icons/powerbi_white.png"/>
            <p:cNvPicPr>
              <a:picLocks noChangeAspect="1"/>
            </p:cNvPicPr>
            <p:nvPr/>
          </p:nvPicPr>
          <p:blipFill>
            <a:blip r:embed="rId3"/>
            <a:stretch>
              <a:fillRect/>
            </a:stretch>
          </p:blipFill>
          <p:spPr>
            <a:xfrm>
              <a:off x="925373" y="2068373"/>
              <a:ext cx="252374" cy="252374"/>
            </a:xfrm>
            <a:prstGeom prst="rect">
              <a:avLst/>
            </a:prstGeom>
          </p:spPr>
        </p:pic>
        <p:sp>
          <p:nvSpPr>
            <p:cNvPr id="7" name="Text 4"/>
            <p:cNvSpPr/>
            <p:nvPr/>
          </p:nvSpPr>
          <p:spPr>
            <a:xfrm>
              <a:off x="749808" y="2587752"/>
              <a:ext cx="2089404" cy="320040"/>
            </a:xfrm>
            <a:prstGeom prst="rect">
              <a:avLst/>
            </a:prstGeom>
            <a:noFill/>
            <a:ln/>
          </p:spPr>
          <p:txBody>
            <a:bodyPr wrap="square"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Power BI Desktop</a:t>
              </a:r>
              <a:endParaRPr lang="en-US" sz="1350" dirty="0"/>
            </a:p>
          </p:txBody>
        </p:sp>
        <p:sp>
          <p:nvSpPr>
            <p:cNvPr id="8" name="Text 5"/>
            <p:cNvSpPr/>
            <p:nvPr/>
          </p:nvSpPr>
          <p:spPr>
            <a:xfrm>
              <a:off x="749808" y="2898648"/>
              <a:ext cx="2089404" cy="36576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Dashboard development &amp; visualization</a:t>
              </a:r>
              <a:endParaRPr lang="en-US" sz="1050" dirty="0"/>
            </a:p>
          </p:txBody>
        </p:sp>
      </p:grpSp>
      <p:grpSp>
        <p:nvGrpSpPr>
          <p:cNvPr id="55" name="Group 54">
            <a:extLst>
              <a:ext uri="{FF2B5EF4-FFF2-40B4-BE49-F238E27FC236}">
                <a16:creationId xmlns:a16="http://schemas.microsoft.com/office/drawing/2014/main" id="{458F652F-0BE4-CD10-87DC-40F77913B1C8}"/>
              </a:ext>
            </a:extLst>
          </p:cNvPr>
          <p:cNvGrpSpPr/>
          <p:nvPr/>
        </p:nvGrpSpPr>
        <p:grpSpPr>
          <a:xfrm>
            <a:off x="525780" y="1664208"/>
            <a:ext cx="2491740" cy="1600200"/>
            <a:chOff x="3268980" y="1691640"/>
            <a:chExt cx="2491740" cy="1600200"/>
          </a:xfrm>
        </p:grpSpPr>
        <p:sp>
          <p:nvSpPr>
            <p:cNvPr id="9" name="Shape 6"/>
            <p:cNvSpPr/>
            <p:nvPr/>
          </p:nvSpPr>
          <p:spPr>
            <a:xfrm>
              <a:off x="3268980" y="1691640"/>
              <a:ext cx="2491740"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10" name="Shape 7"/>
            <p:cNvSpPr/>
            <p:nvPr/>
          </p:nvSpPr>
          <p:spPr>
            <a:xfrm>
              <a:off x="3497580" y="1920240"/>
              <a:ext cx="548640" cy="548640"/>
            </a:xfrm>
            <a:prstGeom prst="ellipse">
              <a:avLst/>
            </a:prstGeom>
            <a:solidFill>
              <a:srgbClr val="17365D"/>
            </a:solidFill>
            <a:ln/>
          </p:spPr>
          <p:txBody>
            <a:bodyPr/>
            <a:lstStyle/>
            <a:p>
              <a:endParaRPr lang="en-IN"/>
            </a:p>
          </p:txBody>
        </p:sp>
        <p:pic>
          <p:nvPicPr>
            <p:cNvPr id="11" name="Image 1" descr="icons/excel_white.png"/>
            <p:cNvPicPr>
              <a:picLocks noChangeAspect="1"/>
            </p:cNvPicPr>
            <p:nvPr/>
          </p:nvPicPr>
          <p:blipFill>
            <a:blip r:embed="rId4"/>
            <a:stretch>
              <a:fillRect/>
            </a:stretch>
          </p:blipFill>
          <p:spPr>
            <a:xfrm>
              <a:off x="3645713" y="2068373"/>
              <a:ext cx="252374" cy="252374"/>
            </a:xfrm>
            <a:prstGeom prst="rect">
              <a:avLst/>
            </a:prstGeom>
          </p:spPr>
        </p:pic>
        <p:sp>
          <p:nvSpPr>
            <p:cNvPr id="12" name="Text 8"/>
            <p:cNvSpPr/>
            <p:nvPr/>
          </p:nvSpPr>
          <p:spPr>
            <a:xfrm>
              <a:off x="3470148" y="2587752"/>
              <a:ext cx="2089404" cy="320040"/>
            </a:xfrm>
            <a:prstGeom prst="rect">
              <a:avLst/>
            </a:prstGeom>
            <a:noFill/>
            <a:ln/>
          </p:spPr>
          <p:txBody>
            <a:bodyPr wrap="square"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Excel / CSV</a:t>
              </a:r>
              <a:endParaRPr lang="en-US" sz="1350" dirty="0"/>
            </a:p>
          </p:txBody>
        </p:sp>
        <p:sp>
          <p:nvSpPr>
            <p:cNvPr id="13" name="Text 9"/>
            <p:cNvSpPr/>
            <p:nvPr/>
          </p:nvSpPr>
          <p:spPr>
            <a:xfrm>
              <a:off x="3470148" y="2898648"/>
              <a:ext cx="2089404" cy="36576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Source data</a:t>
              </a:r>
              <a:endParaRPr lang="en-US" sz="1050" dirty="0"/>
            </a:p>
          </p:txBody>
        </p:sp>
      </p:grpSp>
      <p:sp>
        <p:nvSpPr>
          <p:cNvPr id="14" name="Shape 10"/>
          <p:cNvSpPr/>
          <p:nvPr/>
        </p:nvSpPr>
        <p:spPr>
          <a:xfrm>
            <a:off x="548640" y="3520440"/>
            <a:ext cx="2491740"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15" name="Shape 11"/>
          <p:cNvSpPr/>
          <p:nvPr/>
        </p:nvSpPr>
        <p:spPr>
          <a:xfrm>
            <a:off x="777240" y="3749040"/>
            <a:ext cx="548640" cy="548640"/>
          </a:xfrm>
          <a:prstGeom prst="ellipse">
            <a:avLst/>
          </a:prstGeom>
          <a:solidFill>
            <a:srgbClr val="17365D"/>
          </a:solidFill>
          <a:ln/>
        </p:spPr>
        <p:txBody>
          <a:bodyPr/>
          <a:lstStyle/>
          <a:p>
            <a:endParaRPr lang="en-IN"/>
          </a:p>
        </p:txBody>
      </p:sp>
      <p:pic>
        <p:nvPicPr>
          <p:cNvPr id="16" name="Image 2" descr="icons/powerquery_white.png"/>
          <p:cNvPicPr>
            <a:picLocks noChangeAspect="1"/>
          </p:cNvPicPr>
          <p:nvPr/>
        </p:nvPicPr>
        <p:blipFill>
          <a:blip r:embed="rId5"/>
          <a:stretch>
            <a:fillRect/>
          </a:stretch>
        </p:blipFill>
        <p:spPr>
          <a:xfrm>
            <a:off x="925373" y="3897173"/>
            <a:ext cx="252374" cy="252374"/>
          </a:xfrm>
          <a:prstGeom prst="rect">
            <a:avLst/>
          </a:prstGeom>
        </p:spPr>
      </p:pic>
      <p:sp>
        <p:nvSpPr>
          <p:cNvPr id="17" name="Text 12"/>
          <p:cNvSpPr/>
          <p:nvPr/>
        </p:nvSpPr>
        <p:spPr>
          <a:xfrm>
            <a:off x="749808" y="4416552"/>
            <a:ext cx="2089404" cy="320040"/>
          </a:xfrm>
          <a:prstGeom prst="rect">
            <a:avLst/>
          </a:prstGeom>
          <a:noFill/>
          <a:ln/>
        </p:spPr>
        <p:txBody>
          <a:bodyPr wrap="square"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Power Query</a:t>
            </a:r>
            <a:endParaRPr lang="en-US" sz="1350" dirty="0"/>
          </a:p>
        </p:txBody>
      </p:sp>
      <p:sp>
        <p:nvSpPr>
          <p:cNvPr id="18" name="Text 13"/>
          <p:cNvSpPr/>
          <p:nvPr/>
        </p:nvSpPr>
        <p:spPr>
          <a:xfrm>
            <a:off x="749808" y="4727448"/>
            <a:ext cx="2089404" cy="36576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Data transformation</a:t>
            </a:r>
            <a:endParaRPr lang="en-US" sz="1050" dirty="0"/>
          </a:p>
        </p:txBody>
      </p:sp>
      <p:sp>
        <p:nvSpPr>
          <p:cNvPr id="19" name="Shape 14"/>
          <p:cNvSpPr/>
          <p:nvPr/>
        </p:nvSpPr>
        <p:spPr>
          <a:xfrm>
            <a:off x="3268980" y="3520440"/>
            <a:ext cx="2491740"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20" name="Shape 15"/>
          <p:cNvSpPr/>
          <p:nvPr/>
        </p:nvSpPr>
        <p:spPr>
          <a:xfrm>
            <a:off x="3497580" y="3749040"/>
            <a:ext cx="548640" cy="548640"/>
          </a:xfrm>
          <a:prstGeom prst="ellipse">
            <a:avLst/>
          </a:prstGeom>
          <a:solidFill>
            <a:srgbClr val="17365D"/>
          </a:solidFill>
          <a:ln/>
        </p:spPr>
        <p:txBody>
          <a:bodyPr/>
          <a:lstStyle/>
          <a:p>
            <a:endParaRPr lang="en-IN"/>
          </a:p>
        </p:txBody>
      </p:sp>
      <p:pic>
        <p:nvPicPr>
          <p:cNvPr id="21" name="Image 3" descr="icons/dax_white.png"/>
          <p:cNvPicPr>
            <a:picLocks noChangeAspect="1"/>
          </p:cNvPicPr>
          <p:nvPr/>
        </p:nvPicPr>
        <p:blipFill>
          <a:blip r:embed="rId6"/>
          <a:stretch>
            <a:fillRect/>
          </a:stretch>
        </p:blipFill>
        <p:spPr>
          <a:xfrm>
            <a:off x="3645713" y="3897173"/>
            <a:ext cx="252374" cy="252374"/>
          </a:xfrm>
          <a:prstGeom prst="rect">
            <a:avLst/>
          </a:prstGeom>
        </p:spPr>
      </p:pic>
      <p:sp>
        <p:nvSpPr>
          <p:cNvPr id="22" name="Text 16"/>
          <p:cNvSpPr/>
          <p:nvPr/>
        </p:nvSpPr>
        <p:spPr>
          <a:xfrm>
            <a:off x="3470148" y="4416552"/>
            <a:ext cx="2089404" cy="320040"/>
          </a:xfrm>
          <a:prstGeom prst="rect">
            <a:avLst/>
          </a:prstGeom>
          <a:noFill/>
          <a:ln/>
        </p:spPr>
        <p:txBody>
          <a:bodyPr wrap="square" rtlCol="0" anchor="ctr"/>
          <a:lstStyle/>
          <a:p>
            <a:pPr marL="0" indent="0">
              <a:buNone/>
            </a:pPr>
            <a:r>
              <a:rPr lang="en-US" sz="1350" b="1" dirty="0">
                <a:solidFill>
                  <a:srgbClr val="17365D"/>
                </a:solidFill>
                <a:latin typeface="Calibri" pitchFamily="34" charset="0"/>
                <a:ea typeface="Calibri" pitchFamily="34" charset="-122"/>
                <a:cs typeface="Calibri" pitchFamily="34" charset="-120"/>
              </a:rPr>
              <a:t>DAX</a:t>
            </a:r>
            <a:endParaRPr lang="en-US" sz="1350" dirty="0"/>
          </a:p>
        </p:txBody>
      </p:sp>
      <p:sp>
        <p:nvSpPr>
          <p:cNvPr id="23" name="Text 17"/>
          <p:cNvSpPr/>
          <p:nvPr/>
        </p:nvSpPr>
        <p:spPr>
          <a:xfrm>
            <a:off x="3470148" y="4727448"/>
            <a:ext cx="2089404" cy="365760"/>
          </a:xfrm>
          <a:prstGeom prst="rect">
            <a:avLst/>
          </a:prstGeom>
          <a:noFill/>
          <a:ln/>
        </p:spPr>
        <p:txBody>
          <a:bodyPr wrap="square" rtlCol="0" anchor="ctr"/>
          <a:lstStyle/>
          <a:p>
            <a:pPr marL="0" indent="0">
              <a:buNone/>
            </a:pPr>
            <a:r>
              <a:rPr lang="en-US" sz="1050" dirty="0">
                <a:solidFill>
                  <a:srgbClr val="666666"/>
                </a:solidFill>
                <a:latin typeface="Calibri" pitchFamily="34" charset="0"/>
                <a:ea typeface="Calibri" pitchFamily="34" charset="-122"/>
                <a:cs typeface="Calibri" pitchFamily="34" charset="-120"/>
              </a:rPr>
              <a:t>Data analysis &amp; calculated measures</a:t>
            </a:r>
            <a:endParaRPr lang="en-US" sz="1050" dirty="0"/>
          </a:p>
        </p:txBody>
      </p:sp>
      <p:sp>
        <p:nvSpPr>
          <p:cNvPr id="24" name="Text 18"/>
          <p:cNvSpPr/>
          <p:nvPr/>
        </p:nvSpPr>
        <p:spPr>
          <a:xfrm>
            <a:off x="6080760" y="1188720"/>
            <a:ext cx="5559552" cy="365760"/>
          </a:xfrm>
          <a:prstGeom prst="rect">
            <a:avLst/>
          </a:prstGeom>
          <a:noFill/>
          <a:ln/>
        </p:spPr>
        <p:txBody>
          <a:bodyPr wrap="square" rtlCol="0" anchor="ctr"/>
          <a:lstStyle/>
          <a:p>
            <a:pPr marL="0" indent="0">
              <a:buNone/>
            </a:pPr>
            <a:r>
              <a:rPr lang="en-US" sz="1600" b="1" dirty="0">
                <a:solidFill>
                  <a:srgbClr val="17365D"/>
                </a:solidFill>
                <a:latin typeface="Calibri" pitchFamily="34" charset="0"/>
                <a:ea typeface="Calibri" pitchFamily="34" charset="-122"/>
                <a:cs typeface="Calibri" pitchFamily="34" charset="-120"/>
              </a:rPr>
              <a:t>Orders Dataset — Fields</a:t>
            </a:r>
            <a:endParaRPr lang="en-US" sz="1600" dirty="0"/>
          </a:p>
        </p:txBody>
      </p:sp>
      <p:sp>
        <p:nvSpPr>
          <p:cNvPr id="25" name="Shape 19"/>
          <p:cNvSpPr/>
          <p:nvPr/>
        </p:nvSpPr>
        <p:spPr>
          <a:xfrm>
            <a:off x="6080760" y="1645920"/>
            <a:ext cx="5559552" cy="3063240"/>
          </a:xfrm>
          <a:prstGeom prst="roundRect">
            <a:avLst>
              <a:gd name="adj" fmla="val 2985"/>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26" name="Shape 20"/>
          <p:cNvSpPr/>
          <p:nvPr/>
        </p:nvSpPr>
        <p:spPr>
          <a:xfrm>
            <a:off x="6355080" y="1874520"/>
            <a:ext cx="502920" cy="502920"/>
          </a:xfrm>
          <a:prstGeom prst="ellipse">
            <a:avLst/>
          </a:prstGeom>
          <a:solidFill>
            <a:srgbClr val="118DFF"/>
          </a:solidFill>
          <a:ln/>
        </p:spPr>
        <p:txBody>
          <a:bodyPr/>
          <a:lstStyle/>
          <a:p>
            <a:endParaRPr lang="en-IN"/>
          </a:p>
        </p:txBody>
      </p:sp>
      <p:pic>
        <p:nvPicPr>
          <p:cNvPr id="27" name="Image 4" descr="icons/database_white.png"/>
          <p:cNvPicPr>
            <a:picLocks noChangeAspect="1"/>
          </p:cNvPicPr>
          <p:nvPr/>
        </p:nvPicPr>
        <p:blipFill>
          <a:blip r:embed="rId7"/>
          <a:stretch>
            <a:fillRect/>
          </a:stretch>
        </p:blipFill>
        <p:spPr>
          <a:xfrm>
            <a:off x="6490868" y="2010308"/>
            <a:ext cx="231343" cy="231343"/>
          </a:xfrm>
          <a:prstGeom prst="rect">
            <a:avLst/>
          </a:prstGeom>
        </p:spPr>
      </p:pic>
      <p:sp>
        <p:nvSpPr>
          <p:cNvPr id="28" name="Text 21"/>
          <p:cNvSpPr/>
          <p:nvPr/>
        </p:nvSpPr>
        <p:spPr>
          <a:xfrm>
            <a:off x="6995160" y="1874520"/>
            <a:ext cx="3200400" cy="502920"/>
          </a:xfrm>
          <a:prstGeom prst="rect">
            <a:avLst/>
          </a:prstGeom>
          <a:noFill/>
          <a:ln/>
        </p:spPr>
        <p:txBody>
          <a:bodyPr wrap="square" rtlCol="0" anchor="ctr"/>
          <a:lstStyle/>
          <a:p>
            <a:pPr marL="0" indent="0">
              <a:buNone/>
            </a:pPr>
            <a:r>
              <a:rPr lang="en-US" sz="1500" b="1" dirty="0">
                <a:solidFill>
                  <a:srgbClr val="17365D"/>
                </a:solidFill>
                <a:latin typeface="Calibri" pitchFamily="34" charset="0"/>
                <a:ea typeface="Calibri" pitchFamily="34" charset="-122"/>
                <a:cs typeface="Calibri" pitchFamily="34" charset="-120"/>
              </a:rPr>
              <a:t>Orders Table</a:t>
            </a:r>
            <a:endParaRPr lang="en-US" sz="1500" dirty="0"/>
          </a:p>
        </p:txBody>
      </p:sp>
      <p:sp>
        <p:nvSpPr>
          <p:cNvPr id="29" name="Shape 22"/>
          <p:cNvSpPr/>
          <p:nvPr/>
        </p:nvSpPr>
        <p:spPr>
          <a:xfrm>
            <a:off x="6400800" y="2660904"/>
            <a:ext cx="82296" cy="82296"/>
          </a:xfrm>
          <a:prstGeom prst="ellipse">
            <a:avLst/>
          </a:prstGeom>
          <a:solidFill>
            <a:srgbClr val="F2A900"/>
          </a:solidFill>
          <a:ln/>
        </p:spPr>
        <p:txBody>
          <a:bodyPr/>
          <a:lstStyle/>
          <a:p>
            <a:endParaRPr lang="en-IN"/>
          </a:p>
        </p:txBody>
      </p:sp>
      <p:sp>
        <p:nvSpPr>
          <p:cNvPr id="30" name="Text 23"/>
          <p:cNvSpPr/>
          <p:nvPr/>
        </p:nvSpPr>
        <p:spPr>
          <a:xfrm>
            <a:off x="6601968" y="2514600"/>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Order ID</a:t>
            </a:r>
            <a:endParaRPr lang="en-US" sz="1300" dirty="0"/>
          </a:p>
        </p:txBody>
      </p:sp>
      <p:sp>
        <p:nvSpPr>
          <p:cNvPr id="31" name="Shape 24"/>
          <p:cNvSpPr/>
          <p:nvPr/>
        </p:nvSpPr>
        <p:spPr>
          <a:xfrm>
            <a:off x="6400800" y="3081528"/>
            <a:ext cx="82296" cy="82296"/>
          </a:xfrm>
          <a:prstGeom prst="ellipse">
            <a:avLst/>
          </a:prstGeom>
          <a:solidFill>
            <a:srgbClr val="F2A900"/>
          </a:solidFill>
          <a:ln/>
        </p:spPr>
        <p:txBody>
          <a:bodyPr/>
          <a:lstStyle/>
          <a:p>
            <a:endParaRPr lang="en-IN"/>
          </a:p>
        </p:txBody>
      </p:sp>
      <p:sp>
        <p:nvSpPr>
          <p:cNvPr id="32" name="Text 25"/>
          <p:cNvSpPr/>
          <p:nvPr/>
        </p:nvSpPr>
        <p:spPr>
          <a:xfrm>
            <a:off x="6601968" y="2935224"/>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Order Date</a:t>
            </a:r>
            <a:endParaRPr lang="en-US" sz="1300" dirty="0"/>
          </a:p>
        </p:txBody>
      </p:sp>
      <p:sp>
        <p:nvSpPr>
          <p:cNvPr id="33" name="Shape 26"/>
          <p:cNvSpPr/>
          <p:nvPr/>
        </p:nvSpPr>
        <p:spPr>
          <a:xfrm>
            <a:off x="6400800" y="3502152"/>
            <a:ext cx="82296" cy="82296"/>
          </a:xfrm>
          <a:prstGeom prst="ellipse">
            <a:avLst/>
          </a:prstGeom>
          <a:solidFill>
            <a:srgbClr val="F2A900"/>
          </a:solidFill>
          <a:ln/>
        </p:spPr>
        <p:txBody>
          <a:bodyPr/>
          <a:lstStyle/>
          <a:p>
            <a:endParaRPr lang="en-IN"/>
          </a:p>
        </p:txBody>
      </p:sp>
      <p:sp>
        <p:nvSpPr>
          <p:cNvPr id="34" name="Text 27"/>
          <p:cNvSpPr/>
          <p:nvPr/>
        </p:nvSpPr>
        <p:spPr>
          <a:xfrm>
            <a:off x="6601968" y="3355848"/>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Customer ID</a:t>
            </a:r>
            <a:endParaRPr lang="en-US" sz="1300" dirty="0"/>
          </a:p>
        </p:txBody>
      </p:sp>
      <p:sp>
        <p:nvSpPr>
          <p:cNvPr id="35" name="Shape 28"/>
          <p:cNvSpPr/>
          <p:nvPr/>
        </p:nvSpPr>
        <p:spPr>
          <a:xfrm>
            <a:off x="6400800" y="3922776"/>
            <a:ext cx="82296" cy="82296"/>
          </a:xfrm>
          <a:prstGeom prst="ellipse">
            <a:avLst/>
          </a:prstGeom>
          <a:solidFill>
            <a:srgbClr val="F2A900"/>
          </a:solidFill>
          <a:ln/>
        </p:spPr>
        <p:txBody>
          <a:bodyPr/>
          <a:lstStyle/>
          <a:p>
            <a:endParaRPr lang="en-IN"/>
          </a:p>
        </p:txBody>
      </p:sp>
      <p:sp>
        <p:nvSpPr>
          <p:cNvPr id="36" name="Text 29"/>
          <p:cNvSpPr/>
          <p:nvPr/>
        </p:nvSpPr>
        <p:spPr>
          <a:xfrm>
            <a:off x="6601968" y="3776472"/>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Restaurant Name</a:t>
            </a:r>
            <a:endParaRPr lang="en-US" sz="1300" dirty="0"/>
          </a:p>
        </p:txBody>
      </p:sp>
      <p:sp>
        <p:nvSpPr>
          <p:cNvPr id="37" name="Shape 30"/>
          <p:cNvSpPr/>
          <p:nvPr/>
        </p:nvSpPr>
        <p:spPr>
          <a:xfrm>
            <a:off x="6400800" y="4343400"/>
            <a:ext cx="82296" cy="82296"/>
          </a:xfrm>
          <a:prstGeom prst="ellipse">
            <a:avLst/>
          </a:prstGeom>
          <a:solidFill>
            <a:srgbClr val="F2A900"/>
          </a:solidFill>
          <a:ln/>
        </p:spPr>
        <p:txBody>
          <a:bodyPr/>
          <a:lstStyle/>
          <a:p>
            <a:endParaRPr lang="en-IN"/>
          </a:p>
        </p:txBody>
      </p:sp>
      <p:sp>
        <p:nvSpPr>
          <p:cNvPr id="38" name="Text 31"/>
          <p:cNvSpPr/>
          <p:nvPr/>
        </p:nvSpPr>
        <p:spPr>
          <a:xfrm>
            <a:off x="6601968" y="4197096"/>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Food Category</a:t>
            </a:r>
            <a:endParaRPr lang="en-US" sz="1300" dirty="0"/>
          </a:p>
        </p:txBody>
      </p:sp>
      <p:sp>
        <p:nvSpPr>
          <p:cNvPr id="39" name="Shape 32"/>
          <p:cNvSpPr/>
          <p:nvPr/>
        </p:nvSpPr>
        <p:spPr>
          <a:xfrm>
            <a:off x="8997696" y="2660904"/>
            <a:ext cx="82296" cy="82296"/>
          </a:xfrm>
          <a:prstGeom prst="ellipse">
            <a:avLst/>
          </a:prstGeom>
          <a:solidFill>
            <a:srgbClr val="F2A900"/>
          </a:solidFill>
          <a:ln/>
        </p:spPr>
        <p:txBody>
          <a:bodyPr/>
          <a:lstStyle/>
          <a:p>
            <a:endParaRPr lang="en-IN"/>
          </a:p>
        </p:txBody>
      </p:sp>
      <p:sp>
        <p:nvSpPr>
          <p:cNvPr id="40" name="Text 33"/>
          <p:cNvSpPr/>
          <p:nvPr/>
        </p:nvSpPr>
        <p:spPr>
          <a:xfrm>
            <a:off x="9198864" y="2514600"/>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Order Value</a:t>
            </a:r>
            <a:endParaRPr lang="en-US" sz="1300" dirty="0"/>
          </a:p>
        </p:txBody>
      </p:sp>
      <p:sp>
        <p:nvSpPr>
          <p:cNvPr id="41" name="Shape 34"/>
          <p:cNvSpPr/>
          <p:nvPr/>
        </p:nvSpPr>
        <p:spPr>
          <a:xfrm>
            <a:off x="8997696" y="3081528"/>
            <a:ext cx="82296" cy="82296"/>
          </a:xfrm>
          <a:prstGeom prst="ellipse">
            <a:avLst/>
          </a:prstGeom>
          <a:solidFill>
            <a:srgbClr val="F2A900"/>
          </a:solidFill>
          <a:ln/>
        </p:spPr>
        <p:txBody>
          <a:bodyPr/>
          <a:lstStyle/>
          <a:p>
            <a:endParaRPr lang="en-IN"/>
          </a:p>
        </p:txBody>
      </p:sp>
      <p:sp>
        <p:nvSpPr>
          <p:cNvPr id="42" name="Text 35"/>
          <p:cNvSpPr/>
          <p:nvPr/>
        </p:nvSpPr>
        <p:spPr>
          <a:xfrm>
            <a:off x="9198864" y="2935224"/>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Delivery Time</a:t>
            </a:r>
            <a:endParaRPr lang="en-US" sz="1300" dirty="0"/>
          </a:p>
        </p:txBody>
      </p:sp>
      <p:sp>
        <p:nvSpPr>
          <p:cNvPr id="43" name="Shape 36"/>
          <p:cNvSpPr/>
          <p:nvPr/>
        </p:nvSpPr>
        <p:spPr>
          <a:xfrm>
            <a:off x="8997696" y="3502152"/>
            <a:ext cx="82296" cy="82296"/>
          </a:xfrm>
          <a:prstGeom prst="ellipse">
            <a:avLst/>
          </a:prstGeom>
          <a:solidFill>
            <a:srgbClr val="F2A900"/>
          </a:solidFill>
          <a:ln/>
        </p:spPr>
        <p:txBody>
          <a:bodyPr/>
          <a:lstStyle/>
          <a:p>
            <a:endParaRPr lang="en-IN"/>
          </a:p>
        </p:txBody>
      </p:sp>
      <p:sp>
        <p:nvSpPr>
          <p:cNvPr id="44" name="Text 37"/>
          <p:cNvSpPr/>
          <p:nvPr/>
        </p:nvSpPr>
        <p:spPr>
          <a:xfrm>
            <a:off x="9198864" y="3355848"/>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Rating</a:t>
            </a:r>
            <a:endParaRPr lang="en-US" sz="1300" dirty="0"/>
          </a:p>
        </p:txBody>
      </p:sp>
      <p:sp>
        <p:nvSpPr>
          <p:cNvPr id="45" name="Shape 38"/>
          <p:cNvSpPr/>
          <p:nvPr/>
        </p:nvSpPr>
        <p:spPr>
          <a:xfrm>
            <a:off x="8997696" y="3922776"/>
            <a:ext cx="82296" cy="82296"/>
          </a:xfrm>
          <a:prstGeom prst="ellipse">
            <a:avLst/>
          </a:prstGeom>
          <a:solidFill>
            <a:srgbClr val="F2A900"/>
          </a:solidFill>
          <a:ln/>
        </p:spPr>
        <p:txBody>
          <a:bodyPr/>
          <a:lstStyle/>
          <a:p>
            <a:endParaRPr lang="en-IN"/>
          </a:p>
        </p:txBody>
      </p:sp>
      <p:sp>
        <p:nvSpPr>
          <p:cNvPr id="46" name="Text 39"/>
          <p:cNvSpPr/>
          <p:nvPr/>
        </p:nvSpPr>
        <p:spPr>
          <a:xfrm>
            <a:off x="9198864" y="3776472"/>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Payment Method</a:t>
            </a:r>
            <a:endParaRPr lang="en-US" sz="1300" dirty="0"/>
          </a:p>
        </p:txBody>
      </p:sp>
      <p:sp>
        <p:nvSpPr>
          <p:cNvPr id="47" name="Shape 40"/>
          <p:cNvSpPr/>
          <p:nvPr/>
        </p:nvSpPr>
        <p:spPr>
          <a:xfrm>
            <a:off x="8997696" y="4343400"/>
            <a:ext cx="82296" cy="82296"/>
          </a:xfrm>
          <a:prstGeom prst="ellipse">
            <a:avLst/>
          </a:prstGeom>
          <a:solidFill>
            <a:srgbClr val="F2A900"/>
          </a:solidFill>
          <a:ln/>
        </p:spPr>
        <p:txBody>
          <a:bodyPr/>
          <a:lstStyle/>
          <a:p>
            <a:endParaRPr lang="en-IN"/>
          </a:p>
        </p:txBody>
      </p:sp>
      <p:sp>
        <p:nvSpPr>
          <p:cNvPr id="48" name="Text 41"/>
          <p:cNvSpPr/>
          <p:nvPr/>
        </p:nvSpPr>
        <p:spPr>
          <a:xfrm>
            <a:off x="9198864" y="4197096"/>
            <a:ext cx="2322576" cy="365760"/>
          </a:xfrm>
          <a:prstGeom prst="rect">
            <a:avLst/>
          </a:prstGeom>
          <a:noFill/>
          <a:ln/>
        </p:spPr>
        <p:txBody>
          <a:bodyPr wrap="square" rtlCol="0" anchor="ctr"/>
          <a:lstStyle/>
          <a:p>
            <a:pPr marL="0" indent="0">
              <a:buNone/>
            </a:pPr>
            <a:r>
              <a:rPr lang="en-US" sz="1300" dirty="0">
                <a:solidFill>
                  <a:srgbClr val="252525"/>
                </a:solidFill>
                <a:latin typeface="Calibri" pitchFamily="34" charset="0"/>
                <a:ea typeface="Calibri" pitchFamily="34" charset="-122"/>
                <a:cs typeface="Calibri" pitchFamily="34" charset="-120"/>
              </a:rPr>
              <a:t>City</a:t>
            </a:r>
            <a:endParaRPr lang="en-US" sz="1300" dirty="0"/>
          </a:p>
        </p:txBody>
      </p:sp>
      <p:sp>
        <p:nvSpPr>
          <p:cNvPr id="49" name="Shape 42"/>
          <p:cNvSpPr/>
          <p:nvPr/>
        </p:nvSpPr>
        <p:spPr>
          <a:xfrm>
            <a:off x="6080760" y="4892040"/>
            <a:ext cx="5559552" cy="1371600"/>
          </a:xfrm>
          <a:prstGeom prst="roundRect">
            <a:avLst>
              <a:gd name="adj" fmla="val 6667"/>
            </a:avLst>
          </a:prstGeom>
          <a:solidFill>
            <a:srgbClr val="17365D"/>
          </a:solidFill>
          <a:ln/>
        </p:spPr>
        <p:txBody>
          <a:bodyPr/>
          <a:lstStyle/>
          <a:p>
            <a:endParaRPr lang="en-IN"/>
          </a:p>
        </p:txBody>
      </p:sp>
      <p:pic>
        <p:nvPicPr>
          <p:cNvPr id="50" name="Image 5" descr="icons/bulb_orange.png"/>
          <p:cNvPicPr>
            <a:picLocks noChangeAspect="1"/>
          </p:cNvPicPr>
          <p:nvPr/>
        </p:nvPicPr>
        <p:blipFill>
          <a:blip r:embed="rId8"/>
          <a:stretch>
            <a:fillRect/>
          </a:stretch>
        </p:blipFill>
        <p:spPr>
          <a:xfrm>
            <a:off x="6309360" y="5102352"/>
            <a:ext cx="384048" cy="384048"/>
          </a:xfrm>
          <a:prstGeom prst="rect">
            <a:avLst/>
          </a:prstGeom>
        </p:spPr>
      </p:pic>
      <p:sp>
        <p:nvSpPr>
          <p:cNvPr id="51" name="Text 43"/>
          <p:cNvSpPr/>
          <p:nvPr/>
        </p:nvSpPr>
        <p:spPr>
          <a:xfrm>
            <a:off x="6858000" y="5029200"/>
            <a:ext cx="4553712" cy="1051560"/>
          </a:xfrm>
          <a:prstGeom prst="rect">
            <a:avLst/>
          </a:prstGeom>
          <a:noFill/>
          <a:ln/>
        </p:spPr>
        <p:txBody>
          <a:bodyPr wrap="square" rtlCol="0" anchor="ctr"/>
          <a:lstStyle/>
          <a:p>
            <a:pPr marL="0" indent="0">
              <a:lnSpc>
                <a:spcPts val="1600"/>
              </a:lnSpc>
              <a:buNone/>
            </a:pPr>
            <a:r>
              <a:rPr lang="en-US" sz="1250" i="1" dirty="0">
                <a:solidFill>
                  <a:srgbClr val="D8E3F2"/>
                </a:solidFill>
                <a:latin typeface="Calibri" pitchFamily="34" charset="0"/>
                <a:ea typeface="Calibri" pitchFamily="34" charset="-122"/>
                <a:cs typeface="Calibri" pitchFamily="34" charset="-120"/>
              </a:rPr>
              <a:t>These 10 fields form the foundation for every DAX measure and dashboard visual built in this project.</a:t>
            </a:r>
            <a:endParaRPr lang="en-US" sz="1250" dirty="0"/>
          </a:p>
        </p:txBody>
      </p:sp>
      <p:sp>
        <p:nvSpPr>
          <p:cNvPr id="53" name="Text 45"/>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7365D"/>
                </a:solidFill>
                <a:latin typeface="Calibri" pitchFamily="34" charset="0"/>
                <a:ea typeface="Calibri" pitchFamily="34" charset="-122"/>
                <a:cs typeface="Calibri" pitchFamily="34" charset="-120"/>
              </a:rPr>
              <a:t>Data Analysis &amp; Key DAX Measures</a:t>
            </a:r>
            <a:endParaRPr lang="en-US" sz="3000" dirty="0"/>
          </a:p>
        </p:txBody>
      </p:sp>
      <p:sp>
        <p:nvSpPr>
          <p:cNvPr id="3" name="Text 1"/>
          <p:cNvSpPr/>
          <p:nvPr/>
        </p:nvSpPr>
        <p:spPr>
          <a:xfrm>
            <a:off x="548640" y="1143000"/>
            <a:ext cx="3657600" cy="320040"/>
          </a:xfrm>
          <a:prstGeom prst="rect">
            <a:avLst/>
          </a:prstGeom>
          <a:noFill/>
          <a:ln/>
        </p:spPr>
        <p:txBody>
          <a:bodyPr wrap="square" rtlCol="0" anchor="ctr"/>
          <a:lstStyle/>
          <a:p>
            <a:pPr marL="0" indent="0">
              <a:buNone/>
            </a:pPr>
            <a:r>
              <a:rPr lang="en-US" sz="1400" b="1" dirty="0">
                <a:solidFill>
                  <a:srgbClr val="666666"/>
                </a:solidFill>
                <a:latin typeface="Calibri" pitchFamily="34" charset="0"/>
                <a:ea typeface="Calibri" pitchFamily="34" charset="-122"/>
                <a:cs typeface="Calibri" pitchFamily="34" charset="-120"/>
              </a:rPr>
              <a:t>Data Flow</a:t>
            </a:r>
            <a:endParaRPr lang="en-US" sz="1400" dirty="0"/>
          </a:p>
        </p:txBody>
      </p:sp>
      <p:sp>
        <p:nvSpPr>
          <p:cNvPr id="4" name="Shape 2"/>
          <p:cNvSpPr/>
          <p:nvPr/>
        </p:nvSpPr>
        <p:spPr>
          <a:xfrm>
            <a:off x="548640" y="1508760"/>
            <a:ext cx="1635252" cy="868680"/>
          </a:xfrm>
          <a:prstGeom prst="roundRect">
            <a:avLst>
              <a:gd name="adj" fmla="val 9474"/>
            </a:avLst>
          </a:prstGeom>
          <a:solidFill>
            <a:srgbClr val="17365D"/>
          </a:solidFill>
          <a:ln/>
        </p:spPr>
        <p:txBody>
          <a:bodyPr/>
          <a:lstStyle/>
          <a:p>
            <a:endParaRPr lang="en-IN"/>
          </a:p>
        </p:txBody>
      </p:sp>
      <p:sp>
        <p:nvSpPr>
          <p:cNvPr id="5" name="Text 3"/>
          <p:cNvSpPr/>
          <p:nvPr/>
        </p:nvSpPr>
        <p:spPr>
          <a:xfrm>
            <a:off x="594360" y="1508760"/>
            <a:ext cx="1543812" cy="868680"/>
          </a:xfrm>
          <a:prstGeom prst="rect">
            <a:avLst/>
          </a:prstGeom>
          <a:noFill/>
          <a:ln/>
        </p:spPr>
        <p:txBody>
          <a:bodyPr wrap="square" rtlCol="0" anchor="ctr"/>
          <a:lstStyle/>
          <a:p>
            <a:pPr marL="0" indent="0" algn="ctr">
              <a:lnSpc>
                <a:spcPts val="1300"/>
              </a:lnSpc>
              <a:buNone/>
            </a:pPr>
            <a:r>
              <a:rPr lang="en-US" sz="1100" b="1" dirty="0">
                <a:solidFill>
                  <a:srgbClr val="FFFFFF"/>
                </a:solidFill>
                <a:latin typeface="Calibri" pitchFamily="34" charset="0"/>
                <a:ea typeface="Calibri" pitchFamily="34" charset="-122"/>
                <a:cs typeface="Calibri" pitchFamily="34" charset="-120"/>
              </a:rPr>
              <a:t>Excel / CSV</a:t>
            </a:r>
            <a:endParaRPr lang="en-US" sz="1100" dirty="0"/>
          </a:p>
        </p:txBody>
      </p:sp>
      <p:pic>
        <p:nvPicPr>
          <p:cNvPr id="6" name="Image 0" descr="icons/arrow_gray.png"/>
          <p:cNvPicPr>
            <a:picLocks noChangeAspect="1"/>
          </p:cNvPicPr>
          <p:nvPr/>
        </p:nvPicPr>
        <p:blipFill>
          <a:blip r:embed="rId3"/>
          <a:stretch>
            <a:fillRect/>
          </a:stretch>
        </p:blipFill>
        <p:spPr>
          <a:xfrm>
            <a:off x="2222297" y="1842516"/>
            <a:ext cx="201168" cy="201168"/>
          </a:xfrm>
          <a:prstGeom prst="rect">
            <a:avLst/>
          </a:prstGeom>
        </p:spPr>
      </p:pic>
      <p:sp>
        <p:nvSpPr>
          <p:cNvPr id="7" name="Shape 4"/>
          <p:cNvSpPr/>
          <p:nvPr/>
        </p:nvSpPr>
        <p:spPr>
          <a:xfrm>
            <a:off x="2439924" y="1508760"/>
            <a:ext cx="1635252" cy="868680"/>
          </a:xfrm>
          <a:prstGeom prst="roundRect">
            <a:avLst>
              <a:gd name="adj" fmla="val 9474"/>
            </a:avLst>
          </a:prstGeom>
          <a:solidFill>
            <a:srgbClr val="118DFF"/>
          </a:solidFill>
          <a:ln/>
        </p:spPr>
        <p:txBody>
          <a:bodyPr/>
          <a:lstStyle/>
          <a:p>
            <a:endParaRPr lang="en-IN"/>
          </a:p>
        </p:txBody>
      </p:sp>
      <p:sp>
        <p:nvSpPr>
          <p:cNvPr id="8" name="Text 5"/>
          <p:cNvSpPr/>
          <p:nvPr/>
        </p:nvSpPr>
        <p:spPr>
          <a:xfrm>
            <a:off x="2485644" y="1508760"/>
            <a:ext cx="1543812" cy="868680"/>
          </a:xfrm>
          <a:prstGeom prst="rect">
            <a:avLst/>
          </a:prstGeom>
          <a:noFill/>
          <a:ln/>
        </p:spPr>
        <p:txBody>
          <a:bodyPr wrap="square" rtlCol="0" anchor="ctr"/>
          <a:lstStyle/>
          <a:p>
            <a:pPr marL="0" indent="0" algn="ctr">
              <a:lnSpc>
                <a:spcPts val="1300"/>
              </a:lnSpc>
              <a:buNone/>
            </a:pPr>
            <a:r>
              <a:rPr lang="en-US" sz="1100" b="1" dirty="0">
                <a:solidFill>
                  <a:srgbClr val="FFFFFF"/>
                </a:solidFill>
                <a:latin typeface="Calibri" pitchFamily="34" charset="0"/>
                <a:ea typeface="Calibri" pitchFamily="34" charset="-122"/>
                <a:cs typeface="Calibri" pitchFamily="34" charset="-120"/>
              </a:rPr>
              <a:t>Power Query</a:t>
            </a:r>
            <a:endParaRPr lang="en-US" sz="1100" dirty="0"/>
          </a:p>
        </p:txBody>
      </p:sp>
      <p:pic>
        <p:nvPicPr>
          <p:cNvPr id="9" name="Image 1" descr="icons/arrow_gray.png"/>
          <p:cNvPicPr>
            <a:picLocks noChangeAspect="1"/>
          </p:cNvPicPr>
          <p:nvPr/>
        </p:nvPicPr>
        <p:blipFill>
          <a:blip r:embed="rId3"/>
          <a:stretch>
            <a:fillRect/>
          </a:stretch>
        </p:blipFill>
        <p:spPr>
          <a:xfrm>
            <a:off x="4113581" y="1842516"/>
            <a:ext cx="201168" cy="201168"/>
          </a:xfrm>
          <a:prstGeom prst="rect">
            <a:avLst/>
          </a:prstGeom>
        </p:spPr>
      </p:pic>
      <p:sp>
        <p:nvSpPr>
          <p:cNvPr id="10" name="Shape 6"/>
          <p:cNvSpPr/>
          <p:nvPr/>
        </p:nvSpPr>
        <p:spPr>
          <a:xfrm>
            <a:off x="4331208" y="1508760"/>
            <a:ext cx="1635252" cy="868680"/>
          </a:xfrm>
          <a:prstGeom prst="roundRect">
            <a:avLst>
              <a:gd name="adj" fmla="val 9474"/>
            </a:avLst>
          </a:prstGeom>
          <a:solidFill>
            <a:srgbClr val="17365D"/>
          </a:solidFill>
          <a:ln/>
        </p:spPr>
        <p:txBody>
          <a:bodyPr/>
          <a:lstStyle/>
          <a:p>
            <a:endParaRPr lang="en-IN"/>
          </a:p>
        </p:txBody>
      </p:sp>
      <p:sp>
        <p:nvSpPr>
          <p:cNvPr id="11" name="Text 7"/>
          <p:cNvSpPr/>
          <p:nvPr/>
        </p:nvSpPr>
        <p:spPr>
          <a:xfrm>
            <a:off x="4376928" y="1508760"/>
            <a:ext cx="1543812" cy="868680"/>
          </a:xfrm>
          <a:prstGeom prst="rect">
            <a:avLst/>
          </a:prstGeom>
          <a:noFill/>
          <a:ln/>
        </p:spPr>
        <p:txBody>
          <a:bodyPr wrap="square" rtlCol="0" anchor="ctr"/>
          <a:lstStyle/>
          <a:p>
            <a:pPr marL="0" indent="0" algn="ctr">
              <a:lnSpc>
                <a:spcPts val="1300"/>
              </a:lnSpc>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marL="0" indent="0" algn="ctr">
              <a:lnSpc>
                <a:spcPts val="1300"/>
              </a:lnSpc>
              <a:buNone/>
            </a:pPr>
            <a:r>
              <a:rPr lang="en-US" sz="1100" b="1" dirty="0">
                <a:solidFill>
                  <a:srgbClr val="FFFFFF"/>
                </a:solidFill>
                <a:latin typeface="Calibri" pitchFamily="34" charset="0"/>
                <a:ea typeface="Calibri" pitchFamily="34" charset="-122"/>
                <a:cs typeface="Calibri" pitchFamily="34" charset="-120"/>
              </a:rPr>
              <a:t>Transformation</a:t>
            </a:r>
            <a:endParaRPr lang="en-US" sz="1100" dirty="0"/>
          </a:p>
        </p:txBody>
      </p:sp>
      <p:pic>
        <p:nvPicPr>
          <p:cNvPr id="12" name="Image 2" descr="icons/arrow_gray.png"/>
          <p:cNvPicPr>
            <a:picLocks noChangeAspect="1"/>
          </p:cNvPicPr>
          <p:nvPr/>
        </p:nvPicPr>
        <p:blipFill>
          <a:blip r:embed="rId3"/>
          <a:stretch>
            <a:fillRect/>
          </a:stretch>
        </p:blipFill>
        <p:spPr>
          <a:xfrm>
            <a:off x="6004865" y="1842516"/>
            <a:ext cx="201168" cy="201168"/>
          </a:xfrm>
          <a:prstGeom prst="rect">
            <a:avLst/>
          </a:prstGeom>
        </p:spPr>
      </p:pic>
      <p:sp>
        <p:nvSpPr>
          <p:cNvPr id="13" name="Shape 8"/>
          <p:cNvSpPr/>
          <p:nvPr/>
        </p:nvSpPr>
        <p:spPr>
          <a:xfrm>
            <a:off x="6222492" y="1508760"/>
            <a:ext cx="1635252" cy="868680"/>
          </a:xfrm>
          <a:prstGeom prst="roundRect">
            <a:avLst>
              <a:gd name="adj" fmla="val 9474"/>
            </a:avLst>
          </a:prstGeom>
          <a:solidFill>
            <a:srgbClr val="118DFF"/>
          </a:solidFill>
          <a:ln/>
        </p:spPr>
        <p:txBody>
          <a:bodyPr/>
          <a:lstStyle/>
          <a:p>
            <a:endParaRPr lang="en-IN"/>
          </a:p>
        </p:txBody>
      </p:sp>
      <p:sp>
        <p:nvSpPr>
          <p:cNvPr id="14" name="Text 9"/>
          <p:cNvSpPr/>
          <p:nvPr/>
        </p:nvSpPr>
        <p:spPr>
          <a:xfrm>
            <a:off x="6268212" y="1508760"/>
            <a:ext cx="1543812" cy="868680"/>
          </a:xfrm>
          <a:prstGeom prst="rect">
            <a:avLst/>
          </a:prstGeom>
          <a:noFill/>
          <a:ln/>
        </p:spPr>
        <p:txBody>
          <a:bodyPr wrap="square" rtlCol="0" anchor="ctr"/>
          <a:lstStyle/>
          <a:p>
            <a:pPr marL="0" indent="0" algn="ctr">
              <a:lnSpc>
                <a:spcPts val="1300"/>
              </a:lnSpc>
              <a:buNone/>
            </a:pPr>
            <a:r>
              <a:rPr lang="en-US" sz="1100" b="1" dirty="0">
                <a:solidFill>
                  <a:srgbClr val="FFFFFF"/>
                </a:solidFill>
                <a:latin typeface="Calibri" pitchFamily="34" charset="0"/>
                <a:ea typeface="Calibri" pitchFamily="34" charset="-122"/>
                <a:cs typeface="Calibri" pitchFamily="34" charset="-120"/>
              </a:rPr>
              <a:t>DAX Measures</a:t>
            </a:r>
            <a:endParaRPr lang="en-US" sz="1100" dirty="0"/>
          </a:p>
        </p:txBody>
      </p:sp>
      <p:pic>
        <p:nvPicPr>
          <p:cNvPr id="15" name="Image 3" descr="icons/arrow_gray.png"/>
          <p:cNvPicPr>
            <a:picLocks noChangeAspect="1"/>
          </p:cNvPicPr>
          <p:nvPr/>
        </p:nvPicPr>
        <p:blipFill>
          <a:blip r:embed="rId3"/>
          <a:stretch>
            <a:fillRect/>
          </a:stretch>
        </p:blipFill>
        <p:spPr>
          <a:xfrm>
            <a:off x="7896149" y="1842516"/>
            <a:ext cx="201168" cy="201168"/>
          </a:xfrm>
          <a:prstGeom prst="rect">
            <a:avLst/>
          </a:prstGeom>
        </p:spPr>
      </p:pic>
      <p:sp>
        <p:nvSpPr>
          <p:cNvPr id="16" name="Shape 10"/>
          <p:cNvSpPr/>
          <p:nvPr/>
        </p:nvSpPr>
        <p:spPr>
          <a:xfrm>
            <a:off x="8113776" y="1508760"/>
            <a:ext cx="1635252" cy="868680"/>
          </a:xfrm>
          <a:prstGeom prst="roundRect">
            <a:avLst>
              <a:gd name="adj" fmla="val 9474"/>
            </a:avLst>
          </a:prstGeom>
          <a:solidFill>
            <a:srgbClr val="17365D"/>
          </a:solidFill>
          <a:ln/>
        </p:spPr>
        <p:txBody>
          <a:bodyPr/>
          <a:lstStyle/>
          <a:p>
            <a:endParaRPr lang="en-IN"/>
          </a:p>
        </p:txBody>
      </p:sp>
      <p:sp>
        <p:nvSpPr>
          <p:cNvPr id="17" name="Text 11"/>
          <p:cNvSpPr/>
          <p:nvPr/>
        </p:nvSpPr>
        <p:spPr>
          <a:xfrm>
            <a:off x="8159496" y="1508760"/>
            <a:ext cx="1543812" cy="868680"/>
          </a:xfrm>
          <a:prstGeom prst="rect">
            <a:avLst/>
          </a:prstGeom>
          <a:noFill/>
          <a:ln/>
        </p:spPr>
        <p:txBody>
          <a:bodyPr wrap="square" rtlCol="0" anchor="ctr"/>
          <a:lstStyle/>
          <a:p>
            <a:pPr marL="0" indent="0" algn="ctr">
              <a:lnSpc>
                <a:spcPts val="1300"/>
              </a:lnSpc>
              <a:buNone/>
            </a:pPr>
            <a:r>
              <a:rPr lang="en-US" sz="1100" b="1" dirty="0">
                <a:solidFill>
                  <a:srgbClr val="FFFFFF"/>
                </a:solidFill>
                <a:latin typeface="Calibri" pitchFamily="34" charset="0"/>
                <a:ea typeface="Calibri" pitchFamily="34" charset="-122"/>
                <a:cs typeface="Calibri" pitchFamily="34" charset="-120"/>
              </a:rPr>
              <a:t>Power BI</a:t>
            </a:r>
            <a:endParaRPr lang="en-US" sz="1100" dirty="0"/>
          </a:p>
          <a:p>
            <a:pPr marL="0" indent="0" algn="ctr">
              <a:lnSpc>
                <a:spcPts val="1300"/>
              </a:lnSpc>
              <a:buNone/>
            </a:pPr>
            <a:r>
              <a:rPr lang="en-US" sz="1100" b="1" dirty="0">
                <a:solidFill>
                  <a:srgbClr val="FFFFFF"/>
                </a:solidFill>
                <a:latin typeface="Calibri" pitchFamily="34" charset="0"/>
                <a:ea typeface="Calibri" pitchFamily="34" charset="-122"/>
                <a:cs typeface="Calibri" pitchFamily="34" charset="-120"/>
              </a:rPr>
              <a:t>Dashboard</a:t>
            </a:r>
            <a:endParaRPr lang="en-US" sz="1100" dirty="0"/>
          </a:p>
        </p:txBody>
      </p:sp>
      <p:pic>
        <p:nvPicPr>
          <p:cNvPr id="18" name="Image 4" descr="icons/arrow_gray.png"/>
          <p:cNvPicPr>
            <a:picLocks noChangeAspect="1"/>
          </p:cNvPicPr>
          <p:nvPr/>
        </p:nvPicPr>
        <p:blipFill>
          <a:blip r:embed="rId3"/>
          <a:stretch>
            <a:fillRect/>
          </a:stretch>
        </p:blipFill>
        <p:spPr>
          <a:xfrm>
            <a:off x="9787433" y="1842516"/>
            <a:ext cx="201168" cy="201168"/>
          </a:xfrm>
          <a:prstGeom prst="rect">
            <a:avLst/>
          </a:prstGeom>
        </p:spPr>
      </p:pic>
      <p:sp>
        <p:nvSpPr>
          <p:cNvPr id="19" name="Shape 12"/>
          <p:cNvSpPr/>
          <p:nvPr/>
        </p:nvSpPr>
        <p:spPr>
          <a:xfrm>
            <a:off x="10005060" y="1508760"/>
            <a:ext cx="1635252" cy="868680"/>
          </a:xfrm>
          <a:prstGeom prst="roundRect">
            <a:avLst>
              <a:gd name="adj" fmla="val 9474"/>
            </a:avLst>
          </a:prstGeom>
          <a:solidFill>
            <a:srgbClr val="F2A900"/>
          </a:solidFill>
          <a:ln/>
        </p:spPr>
        <p:txBody>
          <a:bodyPr/>
          <a:lstStyle/>
          <a:p>
            <a:endParaRPr lang="en-IN"/>
          </a:p>
        </p:txBody>
      </p:sp>
      <p:sp>
        <p:nvSpPr>
          <p:cNvPr id="20" name="Text 13"/>
          <p:cNvSpPr/>
          <p:nvPr/>
        </p:nvSpPr>
        <p:spPr>
          <a:xfrm>
            <a:off x="10050780" y="1508760"/>
            <a:ext cx="1543812" cy="868680"/>
          </a:xfrm>
          <a:prstGeom prst="rect">
            <a:avLst/>
          </a:prstGeom>
          <a:noFill/>
          <a:ln/>
        </p:spPr>
        <p:txBody>
          <a:bodyPr wrap="square" rtlCol="0" anchor="ctr"/>
          <a:lstStyle/>
          <a:p>
            <a:pPr marL="0" indent="0" algn="ctr">
              <a:lnSpc>
                <a:spcPts val="1300"/>
              </a:lnSpc>
              <a:buNone/>
            </a:pPr>
            <a:r>
              <a:rPr lang="en-US" sz="1100" b="1" dirty="0">
                <a:solidFill>
                  <a:srgbClr val="17365D"/>
                </a:solidFill>
                <a:latin typeface="Calibri" pitchFamily="34" charset="0"/>
                <a:ea typeface="Calibri" pitchFamily="34" charset="-122"/>
                <a:cs typeface="Calibri" pitchFamily="34" charset="-120"/>
              </a:rPr>
              <a:t>Business</a:t>
            </a:r>
            <a:endParaRPr lang="en-US" sz="1100" dirty="0"/>
          </a:p>
          <a:p>
            <a:pPr marL="0" indent="0" algn="ctr">
              <a:lnSpc>
                <a:spcPts val="1300"/>
              </a:lnSpc>
              <a:buNone/>
            </a:pPr>
            <a:r>
              <a:rPr lang="en-US" sz="1100" b="1" dirty="0">
                <a:solidFill>
                  <a:srgbClr val="17365D"/>
                </a:solidFill>
                <a:latin typeface="Calibri" pitchFamily="34" charset="0"/>
                <a:ea typeface="Calibri" pitchFamily="34" charset="-122"/>
                <a:cs typeface="Calibri" pitchFamily="34" charset="-120"/>
              </a:rPr>
              <a:t>Insights</a:t>
            </a:r>
            <a:endParaRPr lang="en-US" sz="1100" dirty="0"/>
          </a:p>
        </p:txBody>
      </p:sp>
      <p:sp>
        <p:nvSpPr>
          <p:cNvPr id="21" name="Text 14"/>
          <p:cNvSpPr/>
          <p:nvPr/>
        </p:nvSpPr>
        <p:spPr>
          <a:xfrm>
            <a:off x="548640" y="2743200"/>
            <a:ext cx="3657600" cy="320040"/>
          </a:xfrm>
          <a:prstGeom prst="rect">
            <a:avLst/>
          </a:prstGeom>
          <a:noFill/>
          <a:ln/>
        </p:spPr>
        <p:txBody>
          <a:bodyPr wrap="square" rtlCol="0" anchor="ctr"/>
          <a:lstStyle/>
          <a:p>
            <a:pPr marL="0" indent="0">
              <a:buNone/>
            </a:pPr>
            <a:r>
              <a:rPr lang="en-US" sz="1400" b="1" dirty="0">
                <a:solidFill>
                  <a:srgbClr val="666666"/>
                </a:solidFill>
                <a:latin typeface="Calibri" pitchFamily="34" charset="0"/>
                <a:ea typeface="Calibri" pitchFamily="34" charset="-122"/>
                <a:cs typeface="Calibri" pitchFamily="34" charset="-120"/>
              </a:rPr>
              <a:t>Key DAX Measures</a:t>
            </a:r>
            <a:endParaRPr lang="en-US" sz="1400" dirty="0"/>
          </a:p>
        </p:txBody>
      </p:sp>
      <p:sp>
        <p:nvSpPr>
          <p:cNvPr id="22" name="Shape 15"/>
          <p:cNvSpPr/>
          <p:nvPr/>
        </p:nvSpPr>
        <p:spPr>
          <a:xfrm>
            <a:off x="548640" y="3108960"/>
            <a:ext cx="1998878"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23" name="Shape 16"/>
          <p:cNvSpPr/>
          <p:nvPr/>
        </p:nvSpPr>
        <p:spPr>
          <a:xfrm>
            <a:off x="1296619" y="3337560"/>
            <a:ext cx="502920" cy="502920"/>
          </a:xfrm>
          <a:prstGeom prst="ellipse">
            <a:avLst/>
          </a:prstGeom>
          <a:solidFill>
            <a:srgbClr val="118DFF"/>
          </a:solidFill>
          <a:ln/>
        </p:spPr>
        <p:txBody>
          <a:bodyPr/>
          <a:lstStyle/>
          <a:p>
            <a:endParaRPr lang="en-IN"/>
          </a:p>
        </p:txBody>
      </p:sp>
      <p:pic>
        <p:nvPicPr>
          <p:cNvPr id="24" name="Image 5" descr="icons/orders_white.png"/>
          <p:cNvPicPr>
            <a:picLocks noChangeAspect="1"/>
          </p:cNvPicPr>
          <p:nvPr/>
        </p:nvPicPr>
        <p:blipFill>
          <a:blip r:embed="rId4"/>
          <a:stretch>
            <a:fillRect/>
          </a:stretch>
        </p:blipFill>
        <p:spPr>
          <a:xfrm>
            <a:off x="1432408" y="3473348"/>
            <a:ext cx="231343" cy="231343"/>
          </a:xfrm>
          <a:prstGeom prst="rect">
            <a:avLst/>
          </a:prstGeom>
        </p:spPr>
      </p:pic>
      <p:sp>
        <p:nvSpPr>
          <p:cNvPr id="25" name="Text 17"/>
          <p:cNvSpPr/>
          <p:nvPr/>
        </p:nvSpPr>
        <p:spPr>
          <a:xfrm>
            <a:off x="640080" y="3977640"/>
            <a:ext cx="1815998" cy="640080"/>
          </a:xfrm>
          <a:prstGeom prst="rect">
            <a:avLst/>
          </a:prstGeom>
          <a:noFill/>
          <a:ln/>
        </p:spPr>
        <p:txBody>
          <a:bodyPr wrap="square" rtlCol="0" anchor="t"/>
          <a:lstStyle/>
          <a:p>
            <a:pPr marL="0" indent="0" algn="ctr">
              <a:lnSpc>
                <a:spcPts val="1400"/>
              </a:lnSpc>
              <a:buNone/>
            </a:pPr>
            <a:r>
              <a:rPr lang="en-US" sz="1250" b="1" dirty="0">
                <a:solidFill>
                  <a:srgbClr val="17365D"/>
                </a:solidFill>
                <a:latin typeface="Calibri" pitchFamily="34" charset="0"/>
                <a:ea typeface="Calibri" pitchFamily="34" charset="-122"/>
                <a:cs typeface="Calibri" pitchFamily="34" charset="-120"/>
              </a:rPr>
              <a:t>Total Orders</a:t>
            </a:r>
            <a:endParaRPr lang="en-US" sz="1250" dirty="0"/>
          </a:p>
        </p:txBody>
      </p:sp>
      <p:sp>
        <p:nvSpPr>
          <p:cNvPr id="26" name="Shape 18"/>
          <p:cNvSpPr/>
          <p:nvPr/>
        </p:nvSpPr>
        <p:spPr>
          <a:xfrm>
            <a:off x="2821838" y="3108960"/>
            <a:ext cx="1998878"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27" name="Shape 19"/>
          <p:cNvSpPr/>
          <p:nvPr/>
        </p:nvSpPr>
        <p:spPr>
          <a:xfrm>
            <a:off x="3569818" y="3337560"/>
            <a:ext cx="502920" cy="502920"/>
          </a:xfrm>
          <a:prstGeom prst="ellipse">
            <a:avLst/>
          </a:prstGeom>
          <a:solidFill>
            <a:srgbClr val="118DFF"/>
          </a:solidFill>
          <a:ln/>
        </p:spPr>
        <p:txBody>
          <a:bodyPr/>
          <a:lstStyle/>
          <a:p>
            <a:endParaRPr lang="en-IN"/>
          </a:p>
        </p:txBody>
      </p:sp>
      <p:pic>
        <p:nvPicPr>
          <p:cNvPr id="28" name="Image 6" descr="icons/moneybag_white.png"/>
          <p:cNvPicPr>
            <a:picLocks noChangeAspect="1"/>
          </p:cNvPicPr>
          <p:nvPr/>
        </p:nvPicPr>
        <p:blipFill>
          <a:blip r:embed="rId5"/>
          <a:stretch>
            <a:fillRect/>
          </a:stretch>
        </p:blipFill>
        <p:spPr>
          <a:xfrm>
            <a:off x="3705606" y="3473348"/>
            <a:ext cx="231343" cy="231343"/>
          </a:xfrm>
          <a:prstGeom prst="rect">
            <a:avLst/>
          </a:prstGeom>
        </p:spPr>
      </p:pic>
      <p:sp>
        <p:nvSpPr>
          <p:cNvPr id="29" name="Text 20"/>
          <p:cNvSpPr/>
          <p:nvPr/>
        </p:nvSpPr>
        <p:spPr>
          <a:xfrm>
            <a:off x="2913278" y="3977640"/>
            <a:ext cx="1815998" cy="640080"/>
          </a:xfrm>
          <a:prstGeom prst="rect">
            <a:avLst/>
          </a:prstGeom>
          <a:noFill/>
          <a:ln/>
        </p:spPr>
        <p:txBody>
          <a:bodyPr wrap="square" rtlCol="0" anchor="t"/>
          <a:lstStyle/>
          <a:p>
            <a:pPr marL="0" indent="0" algn="ctr">
              <a:lnSpc>
                <a:spcPts val="1400"/>
              </a:lnSpc>
              <a:buNone/>
            </a:pPr>
            <a:r>
              <a:rPr lang="en-US" sz="1250" b="1" dirty="0">
                <a:solidFill>
                  <a:srgbClr val="17365D"/>
                </a:solidFill>
                <a:latin typeface="Calibri" pitchFamily="34" charset="0"/>
                <a:ea typeface="Calibri" pitchFamily="34" charset="-122"/>
                <a:cs typeface="Calibri" pitchFamily="34" charset="-120"/>
              </a:rPr>
              <a:t>Total Revenue</a:t>
            </a:r>
            <a:endParaRPr lang="en-US" sz="1250" dirty="0"/>
          </a:p>
        </p:txBody>
      </p:sp>
      <p:sp>
        <p:nvSpPr>
          <p:cNvPr id="30" name="Shape 21"/>
          <p:cNvSpPr/>
          <p:nvPr/>
        </p:nvSpPr>
        <p:spPr>
          <a:xfrm>
            <a:off x="5095037" y="3108960"/>
            <a:ext cx="1998878"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31" name="Shape 22"/>
          <p:cNvSpPr/>
          <p:nvPr/>
        </p:nvSpPr>
        <p:spPr>
          <a:xfrm>
            <a:off x="5843016" y="3337560"/>
            <a:ext cx="502920" cy="502920"/>
          </a:xfrm>
          <a:prstGeom prst="ellipse">
            <a:avLst/>
          </a:prstGeom>
          <a:solidFill>
            <a:srgbClr val="118DFF"/>
          </a:solidFill>
          <a:ln/>
        </p:spPr>
        <p:txBody>
          <a:bodyPr/>
          <a:lstStyle/>
          <a:p>
            <a:endParaRPr lang="en-IN"/>
          </a:p>
        </p:txBody>
      </p:sp>
      <p:pic>
        <p:nvPicPr>
          <p:cNvPr id="32" name="Image 7" descr="icons/time_white.png"/>
          <p:cNvPicPr>
            <a:picLocks noChangeAspect="1"/>
          </p:cNvPicPr>
          <p:nvPr/>
        </p:nvPicPr>
        <p:blipFill>
          <a:blip r:embed="rId6"/>
          <a:stretch>
            <a:fillRect/>
          </a:stretch>
        </p:blipFill>
        <p:spPr>
          <a:xfrm>
            <a:off x="5978804" y="3473348"/>
            <a:ext cx="231343" cy="231343"/>
          </a:xfrm>
          <a:prstGeom prst="rect">
            <a:avLst/>
          </a:prstGeom>
        </p:spPr>
      </p:pic>
      <p:sp>
        <p:nvSpPr>
          <p:cNvPr id="33" name="Text 23"/>
          <p:cNvSpPr/>
          <p:nvPr/>
        </p:nvSpPr>
        <p:spPr>
          <a:xfrm>
            <a:off x="5186477" y="3977640"/>
            <a:ext cx="1815998" cy="640080"/>
          </a:xfrm>
          <a:prstGeom prst="rect">
            <a:avLst/>
          </a:prstGeom>
          <a:noFill/>
          <a:ln/>
        </p:spPr>
        <p:txBody>
          <a:bodyPr wrap="square" rtlCol="0" anchor="t"/>
          <a:lstStyle/>
          <a:p>
            <a:pPr marL="0" indent="0" algn="ctr">
              <a:lnSpc>
                <a:spcPts val="1400"/>
              </a:lnSpc>
              <a:buNone/>
            </a:pPr>
            <a:r>
              <a:rPr lang="en-US" sz="1250" b="1" dirty="0">
                <a:solidFill>
                  <a:srgbClr val="17365D"/>
                </a:solidFill>
                <a:latin typeface="Calibri" pitchFamily="34" charset="0"/>
                <a:ea typeface="Calibri" pitchFamily="34" charset="-122"/>
                <a:cs typeface="Calibri" pitchFamily="34" charset="-120"/>
              </a:rPr>
              <a:t>Avg. Delivery Time</a:t>
            </a:r>
            <a:endParaRPr lang="en-US" sz="1250" dirty="0"/>
          </a:p>
        </p:txBody>
      </p:sp>
      <p:sp>
        <p:nvSpPr>
          <p:cNvPr id="34" name="Shape 24"/>
          <p:cNvSpPr/>
          <p:nvPr/>
        </p:nvSpPr>
        <p:spPr>
          <a:xfrm>
            <a:off x="7368235" y="3108960"/>
            <a:ext cx="1998878"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35" name="Shape 25"/>
          <p:cNvSpPr/>
          <p:nvPr/>
        </p:nvSpPr>
        <p:spPr>
          <a:xfrm>
            <a:off x="8116214" y="3337560"/>
            <a:ext cx="502920" cy="502920"/>
          </a:xfrm>
          <a:prstGeom prst="ellipse">
            <a:avLst/>
          </a:prstGeom>
          <a:solidFill>
            <a:srgbClr val="118DFF"/>
          </a:solidFill>
          <a:ln/>
        </p:spPr>
        <p:txBody>
          <a:bodyPr/>
          <a:lstStyle/>
          <a:p>
            <a:endParaRPr lang="en-IN"/>
          </a:p>
        </p:txBody>
      </p:sp>
      <p:pic>
        <p:nvPicPr>
          <p:cNvPr id="36" name="Image 8" descr="icons/rating_white.png"/>
          <p:cNvPicPr>
            <a:picLocks noChangeAspect="1"/>
          </p:cNvPicPr>
          <p:nvPr/>
        </p:nvPicPr>
        <p:blipFill>
          <a:blip r:embed="rId7"/>
          <a:stretch>
            <a:fillRect/>
          </a:stretch>
        </p:blipFill>
        <p:spPr>
          <a:xfrm>
            <a:off x="8252003" y="3473348"/>
            <a:ext cx="231343" cy="231343"/>
          </a:xfrm>
          <a:prstGeom prst="rect">
            <a:avLst/>
          </a:prstGeom>
        </p:spPr>
      </p:pic>
      <p:sp>
        <p:nvSpPr>
          <p:cNvPr id="37" name="Text 26"/>
          <p:cNvSpPr/>
          <p:nvPr/>
        </p:nvSpPr>
        <p:spPr>
          <a:xfrm>
            <a:off x="7459675" y="3977640"/>
            <a:ext cx="1815998" cy="640080"/>
          </a:xfrm>
          <a:prstGeom prst="rect">
            <a:avLst/>
          </a:prstGeom>
          <a:noFill/>
          <a:ln/>
        </p:spPr>
        <p:txBody>
          <a:bodyPr wrap="square" rtlCol="0" anchor="t"/>
          <a:lstStyle/>
          <a:p>
            <a:pPr marL="0" indent="0" algn="ctr">
              <a:lnSpc>
                <a:spcPts val="1400"/>
              </a:lnSpc>
              <a:buNone/>
            </a:pPr>
            <a:r>
              <a:rPr lang="en-US" sz="1250" b="1" dirty="0">
                <a:solidFill>
                  <a:srgbClr val="17365D"/>
                </a:solidFill>
                <a:latin typeface="Calibri" pitchFamily="34" charset="0"/>
                <a:ea typeface="Calibri" pitchFamily="34" charset="-122"/>
                <a:cs typeface="Calibri" pitchFamily="34" charset="-120"/>
              </a:rPr>
              <a:t>Average Rating</a:t>
            </a:r>
            <a:endParaRPr lang="en-US" sz="1250" dirty="0"/>
          </a:p>
        </p:txBody>
      </p:sp>
      <p:sp>
        <p:nvSpPr>
          <p:cNvPr id="38" name="Shape 27"/>
          <p:cNvSpPr/>
          <p:nvPr/>
        </p:nvSpPr>
        <p:spPr>
          <a:xfrm>
            <a:off x="9641434" y="3108960"/>
            <a:ext cx="1998878" cy="1600200"/>
          </a:xfrm>
          <a:prstGeom prst="roundRect">
            <a:avLst>
              <a:gd name="adj" fmla="val 5714"/>
            </a:avLst>
          </a:prstGeom>
          <a:solidFill>
            <a:srgbClr val="FFFFFF"/>
          </a:solidFill>
          <a:ln w="12700">
            <a:solidFill>
              <a:srgbClr val="E3E9F2"/>
            </a:solidFill>
            <a:prstDash val="solid"/>
          </a:ln>
          <a:effectLst>
            <a:outerShdw blurRad="63500" dist="25400" dir="5400000" algn="bl" rotWithShape="0">
              <a:srgbClr val="17365D">
                <a:alpha val="12000"/>
              </a:srgbClr>
            </a:outerShdw>
          </a:effectLst>
        </p:spPr>
        <p:txBody>
          <a:bodyPr/>
          <a:lstStyle/>
          <a:p>
            <a:endParaRPr lang="en-IN"/>
          </a:p>
        </p:txBody>
      </p:sp>
      <p:sp>
        <p:nvSpPr>
          <p:cNvPr id="39" name="Shape 28"/>
          <p:cNvSpPr/>
          <p:nvPr/>
        </p:nvSpPr>
        <p:spPr>
          <a:xfrm>
            <a:off x="10389413" y="3337560"/>
            <a:ext cx="502920" cy="502920"/>
          </a:xfrm>
          <a:prstGeom prst="ellipse">
            <a:avLst/>
          </a:prstGeom>
          <a:solidFill>
            <a:srgbClr val="118DFF"/>
          </a:solidFill>
          <a:ln/>
        </p:spPr>
        <p:txBody>
          <a:bodyPr/>
          <a:lstStyle/>
          <a:p>
            <a:endParaRPr lang="en-IN"/>
          </a:p>
        </p:txBody>
      </p:sp>
      <p:pic>
        <p:nvPicPr>
          <p:cNvPr id="40" name="Image 9" descr="icons/growth_white.png"/>
          <p:cNvPicPr>
            <a:picLocks noChangeAspect="1"/>
          </p:cNvPicPr>
          <p:nvPr/>
        </p:nvPicPr>
        <p:blipFill>
          <a:blip r:embed="rId8"/>
          <a:stretch>
            <a:fillRect/>
          </a:stretch>
        </p:blipFill>
        <p:spPr>
          <a:xfrm>
            <a:off x="10525201" y="3473348"/>
            <a:ext cx="231343" cy="231343"/>
          </a:xfrm>
          <a:prstGeom prst="rect">
            <a:avLst/>
          </a:prstGeom>
        </p:spPr>
      </p:pic>
      <p:sp>
        <p:nvSpPr>
          <p:cNvPr id="41" name="Text 29"/>
          <p:cNvSpPr/>
          <p:nvPr/>
        </p:nvSpPr>
        <p:spPr>
          <a:xfrm>
            <a:off x="9732874" y="3977640"/>
            <a:ext cx="1815998" cy="640080"/>
          </a:xfrm>
          <a:prstGeom prst="rect">
            <a:avLst/>
          </a:prstGeom>
          <a:noFill/>
          <a:ln/>
        </p:spPr>
        <p:txBody>
          <a:bodyPr wrap="square" rtlCol="0" anchor="t"/>
          <a:lstStyle/>
          <a:p>
            <a:pPr marL="0" indent="0" algn="ctr">
              <a:lnSpc>
                <a:spcPts val="1400"/>
              </a:lnSpc>
              <a:buNone/>
            </a:pPr>
            <a:r>
              <a:rPr lang="en-US" sz="1250" b="1" dirty="0">
                <a:solidFill>
                  <a:srgbClr val="17365D"/>
                </a:solidFill>
                <a:latin typeface="Calibri" pitchFamily="34" charset="0"/>
                <a:ea typeface="Calibri" pitchFamily="34" charset="-122"/>
                <a:cs typeface="Calibri" pitchFamily="34" charset="-120"/>
              </a:rPr>
              <a:t>Revenue Growth %</a:t>
            </a:r>
            <a:endParaRPr lang="en-US" sz="1250" dirty="0"/>
          </a:p>
        </p:txBody>
      </p:sp>
      <p:sp>
        <p:nvSpPr>
          <p:cNvPr id="42" name="Text 30"/>
          <p:cNvSpPr/>
          <p:nvPr/>
        </p:nvSpPr>
        <p:spPr>
          <a:xfrm>
            <a:off x="548640" y="4983480"/>
            <a:ext cx="5486400" cy="320040"/>
          </a:xfrm>
          <a:prstGeom prst="rect">
            <a:avLst/>
          </a:prstGeom>
          <a:noFill/>
          <a:ln/>
        </p:spPr>
        <p:txBody>
          <a:bodyPr wrap="square" rtlCol="0" anchor="ctr"/>
          <a:lstStyle/>
          <a:p>
            <a:pPr marL="0" indent="0">
              <a:buNone/>
            </a:pPr>
            <a:r>
              <a:rPr lang="en-US" sz="1400" b="1" dirty="0">
                <a:solidFill>
                  <a:srgbClr val="666666"/>
                </a:solidFill>
                <a:latin typeface="Calibri" pitchFamily="34" charset="0"/>
                <a:ea typeface="Calibri" pitchFamily="34" charset="-122"/>
                <a:cs typeface="Calibri" pitchFamily="34" charset="-120"/>
              </a:rPr>
              <a:t>Analysis Areas Covered</a:t>
            </a:r>
            <a:endParaRPr lang="en-US" sz="1400" dirty="0"/>
          </a:p>
        </p:txBody>
      </p:sp>
      <p:sp>
        <p:nvSpPr>
          <p:cNvPr id="43" name="Shape 31"/>
          <p:cNvSpPr/>
          <p:nvPr/>
        </p:nvSpPr>
        <p:spPr>
          <a:xfrm>
            <a:off x="548640" y="5349240"/>
            <a:ext cx="2333549" cy="457200"/>
          </a:xfrm>
          <a:prstGeom prst="roundRect">
            <a:avLst>
              <a:gd name="adj" fmla="val 50000"/>
            </a:avLst>
          </a:prstGeom>
          <a:solidFill>
            <a:srgbClr val="EAF1FB"/>
          </a:solidFill>
          <a:ln w="12700">
            <a:solidFill>
              <a:srgbClr val="118DFF"/>
            </a:solidFill>
            <a:prstDash val="solid"/>
          </a:ln>
        </p:spPr>
        <p:txBody>
          <a:bodyPr/>
          <a:lstStyle/>
          <a:p>
            <a:endParaRPr lang="en-IN"/>
          </a:p>
        </p:txBody>
      </p:sp>
      <p:sp>
        <p:nvSpPr>
          <p:cNvPr id="44" name="Text 32"/>
          <p:cNvSpPr/>
          <p:nvPr/>
        </p:nvSpPr>
        <p:spPr>
          <a:xfrm>
            <a:off x="548640" y="5349240"/>
            <a:ext cx="2333549" cy="457200"/>
          </a:xfrm>
          <a:prstGeom prst="rect">
            <a:avLst/>
          </a:prstGeom>
          <a:noFill/>
          <a:ln/>
        </p:spPr>
        <p:txBody>
          <a:bodyPr wrap="square" rtlCol="0" anchor="ctr"/>
          <a:lstStyle/>
          <a:p>
            <a:pPr marL="0" indent="0" algn="ctr">
              <a:buNone/>
            </a:pPr>
            <a:r>
              <a:rPr lang="en-US" sz="1150" b="1" dirty="0">
                <a:solidFill>
                  <a:srgbClr val="17365D"/>
                </a:solidFill>
                <a:latin typeface="Calibri" pitchFamily="34" charset="0"/>
                <a:ea typeface="Calibri" pitchFamily="34" charset="-122"/>
                <a:cs typeface="Calibri" pitchFamily="34" charset="-120"/>
              </a:rPr>
              <a:t>Order &amp; Revenue Analysis</a:t>
            </a:r>
            <a:endParaRPr lang="en-US" sz="1150" dirty="0"/>
          </a:p>
        </p:txBody>
      </p:sp>
      <p:sp>
        <p:nvSpPr>
          <p:cNvPr id="45" name="Shape 33"/>
          <p:cNvSpPr/>
          <p:nvPr/>
        </p:nvSpPr>
        <p:spPr>
          <a:xfrm>
            <a:off x="3065069" y="5349240"/>
            <a:ext cx="1993392" cy="457200"/>
          </a:xfrm>
          <a:prstGeom prst="roundRect">
            <a:avLst>
              <a:gd name="adj" fmla="val 50000"/>
            </a:avLst>
          </a:prstGeom>
          <a:solidFill>
            <a:srgbClr val="EAF1FB"/>
          </a:solidFill>
          <a:ln w="12700">
            <a:solidFill>
              <a:srgbClr val="118DFF"/>
            </a:solidFill>
            <a:prstDash val="solid"/>
          </a:ln>
        </p:spPr>
        <p:txBody>
          <a:bodyPr/>
          <a:lstStyle/>
          <a:p>
            <a:endParaRPr lang="en-IN"/>
          </a:p>
        </p:txBody>
      </p:sp>
      <p:sp>
        <p:nvSpPr>
          <p:cNvPr id="46" name="Text 34"/>
          <p:cNvSpPr/>
          <p:nvPr/>
        </p:nvSpPr>
        <p:spPr>
          <a:xfrm>
            <a:off x="3065069" y="5349240"/>
            <a:ext cx="1993392" cy="457200"/>
          </a:xfrm>
          <a:prstGeom prst="rect">
            <a:avLst/>
          </a:prstGeom>
          <a:noFill/>
          <a:ln/>
        </p:spPr>
        <p:txBody>
          <a:bodyPr wrap="square" rtlCol="0" anchor="ctr"/>
          <a:lstStyle/>
          <a:p>
            <a:pPr marL="0" indent="0" algn="ctr">
              <a:buNone/>
            </a:pPr>
            <a:r>
              <a:rPr lang="en-US" sz="1150" b="1" dirty="0">
                <a:solidFill>
                  <a:srgbClr val="17365D"/>
                </a:solidFill>
                <a:latin typeface="Calibri" pitchFamily="34" charset="0"/>
                <a:ea typeface="Calibri" pitchFamily="34" charset="-122"/>
                <a:cs typeface="Calibri" pitchFamily="34" charset="-120"/>
              </a:rPr>
              <a:t>Delivery Performance</a:t>
            </a:r>
            <a:endParaRPr lang="en-US" sz="1150" dirty="0"/>
          </a:p>
        </p:txBody>
      </p:sp>
      <p:sp>
        <p:nvSpPr>
          <p:cNvPr id="47" name="Shape 35"/>
          <p:cNvSpPr/>
          <p:nvPr/>
        </p:nvSpPr>
        <p:spPr>
          <a:xfrm>
            <a:off x="5241341" y="5349240"/>
            <a:ext cx="2163470" cy="457200"/>
          </a:xfrm>
          <a:prstGeom prst="roundRect">
            <a:avLst>
              <a:gd name="adj" fmla="val 50000"/>
            </a:avLst>
          </a:prstGeom>
          <a:solidFill>
            <a:srgbClr val="EAF1FB"/>
          </a:solidFill>
          <a:ln w="12700">
            <a:solidFill>
              <a:srgbClr val="118DFF"/>
            </a:solidFill>
            <a:prstDash val="solid"/>
          </a:ln>
        </p:spPr>
        <p:txBody>
          <a:bodyPr/>
          <a:lstStyle/>
          <a:p>
            <a:endParaRPr lang="en-IN"/>
          </a:p>
        </p:txBody>
      </p:sp>
      <p:sp>
        <p:nvSpPr>
          <p:cNvPr id="48" name="Text 36"/>
          <p:cNvSpPr/>
          <p:nvPr/>
        </p:nvSpPr>
        <p:spPr>
          <a:xfrm>
            <a:off x="5241341" y="5349240"/>
            <a:ext cx="2163470" cy="457200"/>
          </a:xfrm>
          <a:prstGeom prst="rect">
            <a:avLst/>
          </a:prstGeom>
          <a:noFill/>
          <a:ln/>
        </p:spPr>
        <p:txBody>
          <a:bodyPr wrap="square" rtlCol="0" anchor="ctr"/>
          <a:lstStyle/>
          <a:p>
            <a:pPr marL="0" indent="0" algn="ctr">
              <a:buNone/>
            </a:pPr>
            <a:r>
              <a:rPr lang="en-US" sz="1150" b="1" dirty="0">
                <a:solidFill>
                  <a:srgbClr val="17365D"/>
                </a:solidFill>
                <a:latin typeface="Calibri" pitchFamily="34" charset="0"/>
                <a:ea typeface="Calibri" pitchFamily="34" charset="-122"/>
                <a:cs typeface="Calibri" pitchFamily="34" charset="-120"/>
              </a:rPr>
              <a:t>Restaurant Performance</a:t>
            </a:r>
            <a:endParaRPr lang="en-US" sz="1150" dirty="0"/>
          </a:p>
        </p:txBody>
      </p:sp>
      <p:sp>
        <p:nvSpPr>
          <p:cNvPr id="49" name="Shape 37"/>
          <p:cNvSpPr/>
          <p:nvPr/>
        </p:nvSpPr>
        <p:spPr>
          <a:xfrm>
            <a:off x="7587691" y="5349240"/>
            <a:ext cx="2333549" cy="457200"/>
          </a:xfrm>
          <a:prstGeom prst="roundRect">
            <a:avLst>
              <a:gd name="adj" fmla="val 50000"/>
            </a:avLst>
          </a:prstGeom>
          <a:solidFill>
            <a:srgbClr val="EAF1FB"/>
          </a:solidFill>
          <a:ln w="12700">
            <a:solidFill>
              <a:srgbClr val="118DFF"/>
            </a:solidFill>
            <a:prstDash val="solid"/>
          </a:ln>
        </p:spPr>
        <p:txBody>
          <a:bodyPr/>
          <a:lstStyle/>
          <a:p>
            <a:endParaRPr lang="en-IN"/>
          </a:p>
        </p:txBody>
      </p:sp>
      <p:sp>
        <p:nvSpPr>
          <p:cNvPr id="50" name="Text 38"/>
          <p:cNvSpPr/>
          <p:nvPr/>
        </p:nvSpPr>
        <p:spPr>
          <a:xfrm>
            <a:off x="7587691" y="5349240"/>
            <a:ext cx="2333549" cy="457200"/>
          </a:xfrm>
          <a:prstGeom prst="rect">
            <a:avLst/>
          </a:prstGeom>
          <a:noFill/>
          <a:ln/>
        </p:spPr>
        <p:txBody>
          <a:bodyPr wrap="square" rtlCol="0" anchor="ctr"/>
          <a:lstStyle/>
          <a:p>
            <a:pPr marL="0" indent="0" algn="ctr">
              <a:buNone/>
            </a:pPr>
            <a:r>
              <a:rPr lang="en-US" sz="1150" b="1" dirty="0">
                <a:solidFill>
                  <a:srgbClr val="17365D"/>
                </a:solidFill>
                <a:latin typeface="Calibri" pitchFamily="34" charset="0"/>
                <a:ea typeface="Calibri" pitchFamily="34" charset="-122"/>
                <a:cs typeface="Calibri" pitchFamily="34" charset="-120"/>
              </a:rPr>
              <a:t>Customer Rating Analysis</a:t>
            </a:r>
            <a:endParaRPr lang="en-US" sz="1150" dirty="0"/>
          </a:p>
        </p:txBody>
      </p:sp>
      <p:sp>
        <p:nvSpPr>
          <p:cNvPr id="51" name="Shape 39"/>
          <p:cNvSpPr/>
          <p:nvPr/>
        </p:nvSpPr>
        <p:spPr>
          <a:xfrm>
            <a:off x="10104120" y="5349240"/>
            <a:ext cx="1823314" cy="457200"/>
          </a:xfrm>
          <a:prstGeom prst="roundRect">
            <a:avLst>
              <a:gd name="adj" fmla="val 50000"/>
            </a:avLst>
          </a:prstGeom>
          <a:solidFill>
            <a:srgbClr val="EAF1FB"/>
          </a:solidFill>
          <a:ln w="12700">
            <a:solidFill>
              <a:srgbClr val="118DFF"/>
            </a:solidFill>
            <a:prstDash val="solid"/>
          </a:ln>
        </p:spPr>
        <p:txBody>
          <a:bodyPr/>
          <a:lstStyle/>
          <a:p>
            <a:endParaRPr lang="en-IN"/>
          </a:p>
        </p:txBody>
      </p:sp>
      <p:sp>
        <p:nvSpPr>
          <p:cNvPr id="52" name="Text 40"/>
          <p:cNvSpPr/>
          <p:nvPr/>
        </p:nvSpPr>
        <p:spPr>
          <a:xfrm>
            <a:off x="10104120" y="5349240"/>
            <a:ext cx="1823314" cy="457200"/>
          </a:xfrm>
          <a:prstGeom prst="rect">
            <a:avLst/>
          </a:prstGeom>
          <a:noFill/>
          <a:ln/>
        </p:spPr>
        <p:txBody>
          <a:bodyPr wrap="square" rtlCol="0" anchor="ctr"/>
          <a:lstStyle/>
          <a:p>
            <a:pPr marL="0" indent="0" algn="ctr">
              <a:buNone/>
            </a:pPr>
            <a:r>
              <a:rPr lang="en-US" sz="1150" b="1" dirty="0">
                <a:solidFill>
                  <a:srgbClr val="17365D"/>
                </a:solidFill>
                <a:latin typeface="Calibri" pitchFamily="34" charset="0"/>
                <a:ea typeface="Calibri" pitchFamily="34" charset="-122"/>
                <a:cs typeface="Calibri" pitchFamily="34" charset="-120"/>
              </a:rPr>
              <a:t>City-wise Analysis</a:t>
            </a:r>
            <a:endParaRPr lang="en-US" sz="1150" dirty="0"/>
          </a:p>
        </p:txBody>
      </p:sp>
      <p:sp>
        <p:nvSpPr>
          <p:cNvPr id="54" name="Text 42"/>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7365D"/>
                </a:solidFill>
                <a:latin typeface="Calibri" pitchFamily="34" charset="0"/>
                <a:ea typeface="Calibri" pitchFamily="34" charset="-122"/>
                <a:cs typeface="Calibri" pitchFamily="34" charset="-120"/>
              </a:rPr>
              <a:t>Dashboard Overview</a:t>
            </a:r>
            <a:endParaRPr lang="en-US" sz="3000" dirty="0"/>
          </a:p>
        </p:txBody>
      </p:sp>
      <p:sp>
        <p:nvSpPr>
          <p:cNvPr id="3" name="Shape 1"/>
          <p:cNvSpPr/>
          <p:nvPr/>
        </p:nvSpPr>
        <p:spPr>
          <a:xfrm>
            <a:off x="548640" y="1234440"/>
            <a:ext cx="7818120" cy="4709160"/>
          </a:xfrm>
          <a:prstGeom prst="roundRect">
            <a:avLst>
              <a:gd name="adj" fmla="val 1942"/>
            </a:avLst>
          </a:prstGeom>
          <a:solidFill>
            <a:srgbClr val="EDF2F9"/>
          </a:solidFill>
          <a:ln w="19050">
            <a:solidFill>
              <a:srgbClr val="118DFF"/>
            </a:solidFill>
            <a:prstDash val="dash"/>
          </a:ln>
        </p:spPr>
        <p:txBody>
          <a:bodyPr/>
          <a:lstStyle/>
          <a:p>
            <a:endParaRPr lang="en-IN"/>
          </a:p>
        </p:txBody>
      </p:sp>
      <p:sp>
        <p:nvSpPr>
          <p:cNvPr id="4" name="Shape 2"/>
          <p:cNvSpPr/>
          <p:nvPr/>
        </p:nvSpPr>
        <p:spPr>
          <a:xfrm>
            <a:off x="4000500" y="2811780"/>
            <a:ext cx="914400" cy="914400"/>
          </a:xfrm>
          <a:prstGeom prst="ellipse">
            <a:avLst/>
          </a:prstGeom>
          <a:solidFill>
            <a:srgbClr val="118DFF"/>
          </a:solidFill>
          <a:ln/>
        </p:spPr>
        <p:txBody>
          <a:bodyPr/>
          <a:lstStyle/>
          <a:p>
            <a:endParaRPr lang="en-IN"/>
          </a:p>
        </p:txBody>
      </p:sp>
      <p:pic>
        <p:nvPicPr>
          <p:cNvPr id="5" name="Image 0" descr="icons/powerbi_white.png"/>
          <p:cNvPicPr>
            <a:picLocks noChangeAspect="1"/>
          </p:cNvPicPr>
          <p:nvPr/>
        </p:nvPicPr>
        <p:blipFill>
          <a:blip r:embed="rId3"/>
          <a:stretch>
            <a:fillRect/>
          </a:stretch>
        </p:blipFill>
        <p:spPr>
          <a:xfrm>
            <a:off x="4247388" y="3058668"/>
            <a:ext cx="420624" cy="420624"/>
          </a:xfrm>
          <a:prstGeom prst="rect">
            <a:avLst/>
          </a:prstGeom>
        </p:spPr>
      </p:pic>
      <p:sp>
        <p:nvSpPr>
          <p:cNvPr id="6" name="Text 3"/>
          <p:cNvSpPr/>
          <p:nvPr/>
        </p:nvSpPr>
        <p:spPr>
          <a:xfrm>
            <a:off x="914400" y="3771900"/>
            <a:ext cx="7086600" cy="457200"/>
          </a:xfrm>
          <a:prstGeom prst="rect">
            <a:avLst/>
          </a:prstGeom>
          <a:noFill/>
          <a:ln/>
        </p:spPr>
        <p:txBody>
          <a:bodyPr wrap="square" rtlCol="0" anchor="ctr"/>
          <a:lstStyle/>
          <a:p>
            <a:pPr marL="0" indent="0" algn="ctr">
              <a:buNone/>
            </a:pPr>
            <a:r>
              <a:rPr lang="en-US" sz="1500" b="1" dirty="0">
                <a:solidFill>
                  <a:srgbClr val="17365D"/>
                </a:solidFill>
                <a:latin typeface="Calibri" pitchFamily="34" charset="0"/>
                <a:ea typeface="Calibri" pitchFamily="34" charset="-122"/>
                <a:cs typeface="Calibri" pitchFamily="34" charset="-120"/>
              </a:rPr>
              <a:t>[ INSERT POWER BI OVERVIEW DASHBOARD SCREENSHOT HERE ]</a:t>
            </a:r>
            <a:endParaRPr lang="en-US" sz="1500" dirty="0"/>
          </a:p>
        </p:txBody>
      </p:sp>
      <p:sp>
        <p:nvSpPr>
          <p:cNvPr id="7" name="Text 4"/>
          <p:cNvSpPr/>
          <p:nvPr/>
        </p:nvSpPr>
        <p:spPr>
          <a:xfrm>
            <a:off x="914400" y="4155948"/>
            <a:ext cx="7086600" cy="365760"/>
          </a:xfrm>
          <a:prstGeom prst="rect">
            <a:avLst/>
          </a:prstGeom>
          <a:noFill/>
          <a:ln/>
        </p:spPr>
        <p:txBody>
          <a:bodyPr wrap="square" rtlCol="0" anchor="ctr"/>
          <a:lstStyle/>
          <a:p>
            <a:pPr marL="0" indent="0" algn="ctr">
              <a:buNone/>
            </a:pPr>
            <a:r>
              <a:rPr lang="en-US" sz="1150" i="1" dirty="0">
                <a:solidFill>
                  <a:srgbClr val="666666"/>
                </a:solidFill>
                <a:latin typeface="Calibri" pitchFamily="34" charset="0"/>
                <a:ea typeface="Calibri" pitchFamily="34" charset="-122"/>
                <a:cs typeface="Calibri" pitchFamily="34" charset="-120"/>
              </a:rPr>
              <a:t>Insert actual Power BI screenshot here</a:t>
            </a:r>
            <a:endParaRPr lang="en-US" sz="1150" dirty="0"/>
          </a:p>
        </p:txBody>
      </p:sp>
      <p:sp>
        <p:nvSpPr>
          <p:cNvPr id="8" name="Text 5"/>
          <p:cNvSpPr/>
          <p:nvPr/>
        </p:nvSpPr>
        <p:spPr>
          <a:xfrm>
            <a:off x="8595360" y="1234440"/>
            <a:ext cx="3044952" cy="320040"/>
          </a:xfrm>
          <a:prstGeom prst="rect">
            <a:avLst/>
          </a:prstGeom>
          <a:noFill/>
          <a:ln/>
        </p:spPr>
        <p:txBody>
          <a:bodyPr wrap="square" rtlCol="0" anchor="ctr"/>
          <a:lstStyle/>
          <a:p>
            <a:pPr marL="0" indent="0">
              <a:buNone/>
            </a:pPr>
            <a:r>
              <a:rPr lang="en-US" sz="1400" b="1" dirty="0">
                <a:solidFill>
                  <a:srgbClr val="666666"/>
                </a:solidFill>
                <a:latin typeface="Calibri" pitchFamily="34" charset="0"/>
                <a:ea typeface="Calibri" pitchFamily="34" charset="-122"/>
                <a:cs typeface="Calibri" pitchFamily="34" charset="-120"/>
              </a:rPr>
              <a:t>Overview Highlights</a:t>
            </a:r>
            <a:endParaRPr lang="en-US" sz="1400" dirty="0"/>
          </a:p>
        </p:txBody>
      </p:sp>
      <p:sp>
        <p:nvSpPr>
          <p:cNvPr id="9" name="Shape 6"/>
          <p:cNvSpPr/>
          <p:nvPr/>
        </p:nvSpPr>
        <p:spPr>
          <a:xfrm>
            <a:off x="8595360" y="1600200"/>
            <a:ext cx="3044952" cy="777240"/>
          </a:xfrm>
          <a:prstGeom prst="roundRect">
            <a:avLst>
              <a:gd name="adj" fmla="val 10588"/>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sp>
        <p:nvSpPr>
          <p:cNvPr id="10" name="Shape 7"/>
          <p:cNvSpPr/>
          <p:nvPr/>
        </p:nvSpPr>
        <p:spPr>
          <a:xfrm>
            <a:off x="8732520" y="1760220"/>
            <a:ext cx="457200" cy="457200"/>
          </a:xfrm>
          <a:prstGeom prst="ellipse">
            <a:avLst/>
          </a:prstGeom>
          <a:solidFill>
            <a:srgbClr val="17365D"/>
          </a:solidFill>
          <a:ln/>
        </p:spPr>
        <p:txBody>
          <a:bodyPr/>
          <a:lstStyle/>
          <a:p>
            <a:endParaRPr lang="en-IN"/>
          </a:p>
        </p:txBody>
      </p:sp>
      <p:pic>
        <p:nvPicPr>
          <p:cNvPr id="11" name="Image 1" descr="icons/orders_white.png"/>
          <p:cNvPicPr>
            <a:picLocks noChangeAspect="1"/>
          </p:cNvPicPr>
          <p:nvPr/>
        </p:nvPicPr>
        <p:blipFill>
          <a:blip r:embed="rId4"/>
          <a:stretch>
            <a:fillRect/>
          </a:stretch>
        </p:blipFill>
        <p:spPr>
          <a:xfrm>
            <a:off x="8855964" y="1883664"/>
            <a:ext cx="210312" cy="210312"/>
          </a:xfrm>
          <a:prstGeom prst="rect">
            <a:avLst/>
          </a:prstGeom>
        </p:spPr>
      </p:pic>
      <p:sp>
        <p:nvSpPr>
          <p:cNvPr id="12" name="Text 8"/>
          <p:cNvSpPr/>
          <p:nvPr/>
        </p:nvSpPr>
        <p:spPr>
          <a:xfrm>
            <a:off x="9308592" y="1600200"/>
            <a:ext cx="2176272" cy="777240"/>
          </a:xfrm>
          <a:prstGeom prst="rect">
            <a:avLst/>
          </a:prstGeom>
          <a:noFill/>
          <a:ln/>
        </p:spPr>
        <p:txBody>
          <a:bodyPr wrap="square" rtlCol="0" anchor="ctr"/>
          <a:lstStyle/>
          <a:p>
            <a:pPr marL="0" indent="0">
              <a:lnSpc>
                <a:spcPts val="1300"/>
              </a:lnSpc>
              <a:buNone/>
            </a:pPr>
            <a:r>
              <a:rPr lang="en-US" sz="1250" b="1" dirty="0">
                <a:solidFill>
                  <a:srgbClr val="17365D"/>
                </a:solidFill>
                <a:latin typeface="Calibri" pitchFamily="34" charset="0"/>
                <a:ea typeface="Calibri" pitchFamily="34" charset="-122"/>
                <a:cs typeface="Calibri" pitchFamily="34" charset="-120"/>
              </a:rPr>
              <a:t>Total Orders</a:t>
            </a:r>
            <a:endParaRPr lang="en-US" sz="1250" dirty="0"/>
          </a:p>
        </p:txBody>
      </p:sp>
      <p:sp>
        <p:nvSpPr>
          <p:cNvPr id="13" name="Shape 9"/>
          <p:cNvSpPr/>
          <p:nvPr/>
        </p:nvSpPr>
        <p:spPr>
          <a:xfrm>
            <a:off x="8595360" y="2514600"/>
            <a:ext cx="3044952" cy="777240"/>
          </a:xfrm>
          <a:prstGeom prst="roundRect">
            <a:avLst>
              <a:gd name="adj" fmla="val 10588"/>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sp>
        <p:nvSpPr>
          <p:cNvPr id="14" name="Shape 10"/>
          <p:cNvSpPr/>
          <p:nvPr/>
        </p:nvSpPr>
        <p:spPr>
          <a:xfrm>
            <a:off x="8732520" y="2674620"/>
            <a:ext cx="457200" cy="457200"/>
          </a:xfrm>
          <a:prstGeom prst="ellipse">
            <a:avLst/>
          </a:prstGeom>
          <a:solidFill>
            <a:srgbClr val="17365D"/>
          </a:solidFill>
          <a:ln/>
        </p:spPr>
        <p:txBody>
          <a:bodyPr/>
          <a:lstStyle/>
          <a:p>
            <a:endParaRPr lang="en-IN"/>
          </a:p>
        </p:txBody>
      </p:sp>
      <p:pic>
        <p:nvPicPr>
          <p:cNvPr id="15" name="Image 2" descr="icons/moneybag_white.png"/>
          <p:cNvPicPr>
            <a:picLocks noChangeAspect="1"/>
          </p:cNvPicPr>
          <p:nvPr/>
        </p:nvPicPr>
        <p:blipFill>
          <a:blip r:embed="rId5"/>
          <a:stretch>
            <a:fillRect/>
          </a:stretch>
        </p:blipFill>
        <p:spPr>
          <a:xfrm>
            <a:off x="8855964" y="2798064"/>
            <a:ext cx="210312" cy="210312"/>
          </a:xfrm>
          <a:prstGeom prst="rect">
            <a:avLst/>
          </a:prstGeom>
        </p:spPr>
      </p:pic>
      <p:sp>
        <p:nvSpPr>
          <p:cNvPr id="16" name="Text 11"/>
          <p:cNvSpPr/>
          <p:nvPr/>
        </p:nvSpPr>
        <p:spPr>
          <a:xfrm>
            <a:off x="9308592" y="2514600"/>
            <a:ext cx="2176272" cy="777240"/>
          </a:xfrm>
          <a:prstGeom prst="rect">
            <a:avLst/>
          </a:prstGeom>
          <a:noFill/>
          <a:ln/>
        </p:spPr>
        <p:txBody>
          <a:bodyPr wrap="square" rtlCol="0" anchor="ctr"/>
          <a:lstStyle/>
          <a:p>
            <a:pPr marL="0" indent="0">
              <a:lnSpc>
                <a:spcPts val="1300"/>
              </a:lnSpc>
              <a:buNone/>
            </a:pPr>
            <a:r>
              <a:rPr lang="en-US" sz="1250" b="1" dirty="0">
                <a:solidFill>
                  <a:srgbClr val="17365D"/>
                </a:solidFill>
                <a:latin typeface="Calibri" pitchFamily="34" charset="0"/>
                <a:ea typeface="Calibri" pitchFamily="34" charset="-122"/>
                <a:cs typeface="Calibri" pitchFamily="34" charset="-120"/>
              </a:rPr>
              <a:t>Total Revenue</a:t>
            </a:r>
            <a:endParaRPr lang="en-US" sz="1250" dirty="0"/>
          </a:p>
        </p:txBody>
      </p:sp>
      <p:sp>
        <p:nvSpPr>
          <p:cNvPr id="17" name="Shape 12"/>
          <p:cNvSpPr/>
          <p:nvPr/>
        </p:nvSpPr>
        <p:spPr>
          <a:xfrm>
            <a:off x="8595360" y="3429000"/>
            <a:ext cx="3044952" cy="777240"/>
          </a:xfrm>
          <a:prstGeom prst="roundRect">
            <a:avLst>
              <a:gd name="adj" fmla="val 10588"/>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sp>
        <p:nvSpPr>
          <p:cNvPr id="18" name="Shape 13"/>
          <p:cNvSpPr/>
          <p:nvPr/>
        </p:nvSpPr>
        <p:spPr>
          <a:xfrm>
            <a:off x="8732520" y="3589020"/>
            <a:ext cx="457200" cy="457200"/>
          </a:xfrm>
          <a:prstGeom prst="ellipse">
            <a:avLst/>
          </a:prstGeom>
          <a:solidFill>
            <a:srgbClr val="17365D"/>
          </a:solidFill>
          <a:ln/>
        </p:spPr>
        <p:txBody>
          <a:bodyPr/>
          <a:lstStyle/>
          <a:p>
            <a:endParaRPr lang="en-IN"/>
          </a:p>
        </p:txBody>
      </p:sp>
      <p:pic>
        <p:nvPicPr>
          <p:cNvPr id="19" name="Image 3" descr="icons/rating_white.png"/>
          <p:cNvPicPr>
            <a:picLocks noChangeAspect="1"/>
          </p:cNvPicPr>
          <p:nvPr/>
        </p:nvPicPr>
        <p:blipFill>
          <a:blip r:embed="rId6"/>
          <a:stretch>
            <a:fillRect/>
          </a:stretch>
        </p:blipFill>
        <p:spPr>
          <a:xfrm>
            <a:off x="8855964" y="3712464"/>
            <a:ext cx="210312" cy="210312"/>
          </a:xfrm>
          <a:prstGeom prst="rect">
            <a:avLst/>
          </a:prstGeom>
        </p:spPr>
      </p:pic>
      <p:sp>
        <p:nvSpPr>
          <p:cNvPr id="20" name="Text 14"/>
          <p:cNvSpPr/>
          <p:nvPr/>
        </p:nvSpPr>
        <p:spPr>
          <a:xfrm>
            <a:off x="9308592" y="3429000"/>
            <a:ext cx="2176272" cy="777240"/>
          </a:xfrm>
          <a:prstGeom prst="rect">
            <a:avLst/>
          </a:prstGeom>
          <a:noFill/>
          <a:ln/>
        </p:spPr>
        <p:txBody>
          <a:bodyPr wrap="square" rtlCol="0" anchor="ctr"/>
          <a:lstStyle/>
          <a:p>
            <a:pPr marL="0" indent="0">
              <a:lnSpc>
                <a:spcPts val="1300"/>
              </a:lnSpc>
              <a:buNone/>
            </a:pPr>
            <a:r>
              <a:rPr lang="en-US" sz="1250" b="1" dirty="0">
                <a:solidFill>
                  <a:srgbClr val="17365D"/>
                </a:solidFill>
                <a:latin typeface="Calibri" pitchFamily="34" charset="0"/>
                <a:ea typeface="Calibri" pitchFamily="34" charset="-122"/>
                <a:cs typeface="Calibri" pitchFamily="34" charset="-120"/>
              </a:rPr>
              <a:t>Average Rating</a:t>
            </a:r>
            <a:endParaRPr lang="en-US" sz="1250" dirty="0"/>
          </a:p>
        </p:txBody>
      </p:sp>
      <p:sp>
        <p:nvSpPr>
          <p:cNvPr id="21" name="Shape 15"/>
          <p:cNvSpPr/>
          <p:nvPr/>
        </p:nvSpPr>
        <p:spPr>
          <a:xfrm>
            <a:off x="8595360" y="4416552"/>
            <a:ext cx="3044952" cy="1527048"/>
          </a:xfrm>
          <a:prstGeom prst="roundRect">
            <a:avLst>
              <a:gd name="adj" fmla="val 5988"/>
            </a:avLst>
          </a:prstGeom>
          <a:solidFill>
            <a:srgbClr val="17365D"/>
          </a:solidFill>
          <a:ln/>
        </p:spPr>
        <p:txBody>
          <a:bodyPr/>
          <a:lstStyle/>
          <a:p>
            <a:endParaRPr lang="en-IN"/>
          </a:p>
        </p:txBody>
      </p:sp>
      <p:sp>
        <p:nvSpPr>
          <p:cNvPr id="22" name="Text 16"/>
          <p:cNvSpPr/>
          <p:nvPr/>
        </p:nvSpPr>
        <p:spPr>
          <a:xfrm>
            <a:off x="8796528" y="4581144"/>
            <a:ext cx="2642616" cy="1197864"/>
          </a:xfrm>
          <a:prstGeom prst="rect">
            <a:avLst/>
          </a:prstGeom>
          <a:noFill/>
          <a:ln/>
        </p:spPr>
        <p:txBody>
          <a:bodyPr wrap="square" rtlCol="0" anchor="t"/>
          <a:lstStyle/>
          <a:p>
            <a:pPr marL="0" indent="0">
              <a:lnSpc>
                <a:spcPts val="1500"/>
              </a:lnSpc>
              <a:buNone/>
            </a:pPr>
            <a:r>
              <a:rPr lang="en-US" sz="1150" i="1" dirty="0">
                <a:solidFill>
                  <a:srgbClr val="D8E3F2"/>
                </a:solidFill>
                <a:latin typeface="Calibri" pitchFamily="34" charset="0"/>
                <a:ea typeface="Calibri" pitchFamily="34" charset="-122"/>
                <a:cs typeface="Calibri" pitchFamily="34" charset="-120"/>
              </a:rPr>
              <a:t>Provides an overall view of food delivery business performance through interactive KPIs and visualizations.</a:t>
            </a:r>
            <a:endParaRPr lang="en-US" sz="1150" dirty="0"/>
          </a:p>
        </p:txBody>
      </p:sp>
      <p:sp>
        <p:nvSpPr>
          <p:cNvPr id="24" name="Text 18"/>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5</a:t>
            </a:r>
            <a:endParaRPr lang="en-US" sz="900" dirty="0"/>
          </a:p>
        </p:txBody>
      </p:sp>
      <p:pic>
        <p:nvPicPr>
          <p:cNvPr id="26" name="Picture 25">
            <a:extLst>
              <a:ext uri="{FF2B5EF4-FFF2-40B4-BE49-F238E27FC236}">
                <a16:creationId xmlns:a16="http://schemas.microsoft.com/office/drawing/2014/main" id="{08FDA83B-A3A8-7991-200F-5B252827A34C}"/>
              </a:ext>
            </a:extLst>
          </p:cNvPr>
          <p:cNvPicPr>
            <a:picLocks noChangeAspect="1"/>
          </p:cNvPicPr>
          <p:nvPr/>
        </p:nvPicPr>
        <p:blipFill>
          <a:blip r:embed="rId7"/>
          <a:stretch>
            <a:fillRect/>
          </a:stretch>
        </p:blipFill>
        <p:spPr>
          <a:xfrm>
            <a:off x="707136" y="1394460"/>
            <a:ext cx="7536319" cy="43845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7365D"/>
                </a:solidFill>
                <a:latin typeface="Calibri" pitchFamily="34" charset="0"/>
                <a:ea typeface="Calibri" pitchFamily="34" charset="-122"/>
                <a:cs typeface="Calibri" pitchFamily="34" charset="-120"/>
              </a:rPr>
              <a:t>Delivery Performance Analysis</a:t>
            </a:r>
            <a:endParaRPr lang="en-US" sz="3000" dirty="0"/>
          </a:p>
        </p:txBody>
      </p:sp>
      <p:sp>
        <p:nvSpPr>
          <p:cNvPr id="3" name="Shape 1"/>
          <p:cNvSpPr/>
          <p:nvPr/>
        </p:nvSpPr>
        <p:spPr>
          <a:xfrm>
            <a:off x="548640" y="1234440"/>
            <a:ext cx="7818120" cy="4709160"/>
          </a:xfrm>
          <a:prstGeom prst="roundRect">
            <a:avLst>
              <a:gd name="adj" fmla="val 1942"/>
            </a:avLst>
          </a:prstGeom>
          <a:solidFill>
            <a:srgbClr val="EDF2F9"/>
          </a:solidFill>
          <a:ln w="19050">
            <a:solidFill>
              <a:srgbClr val="118DFF"/>
            </a:solidFill>
            <a:prstDash val="dash"/>
          </a:ln>
        </p:spPr>
        <p:txBody>
          <a:bodyPr/>
          <a:lstStyle/>
          <a:p>
            <a:endParaRPr lang="en-IN"/>
          </a:p>
        </p:txBody>
      </p:sp>
      <p:sp>
        <p:nvSpPr>
          <p:cNvPr id="4" name="Shape 2"/>
          <p:cNvSpPr/>
          <p:nvPr/>
        </p:nvSpPr>
        <p:spPr>
          <a:xfrm>
            <a:off x="4000500" y="2811780"/>
            <a:ext cx="914400" cy="914400"/>
          </a:xfrm>
          <a:prstGeom prst="ellipse">
            <a:avLst/>
          </a:prstGeom>
          <a:solidFill>
            <a:srgbClr val="118DFF"/>
          </a:solidFill>
          <a:ln/>
        </p:spPr>
        <p:txBody>
          <a:bodyPr/>
          <a:lstStyle/>
          <a:p>
            <a:endParaRPr lang="en-IN"/>
          </a:p>
        </p:txBody>
      </p:sp>
      <p:pic>
        <p:nvPicPr>
          <p:cNvPr id="5" name="Image 0" descr="icons/powerbi_white.png"/>
          <p:cNvPicPr>
            <a:picLocks noChangeAspect="1"/>
          </p:cNvPicPr>
          <p:nvPr/>
        </p:nvPicPr>
        <p:blipFill>
          <a:blip r:embed="rId3"/>
          <a:stretch>
            <a:fillRect/>
          </a:stretch>
        </p:blipFill>
        <p:spPr>
          <a:xfrm>
            <a:off x="4247388" y="3058668"/>
            <a:ext cx="420624" cy="420624"/>
          </a:xfrm>
          <a:prstGeom prst="rect">
            <a:avLst/>
          </a:prstGeom>
        </p:spPr>
      </p:pic>
      <p:sp>
        <p:nvSpPr>
          <p:cNvPr id="6" name="Text 3"/>
          <p:cNvSpPr/>
          <p:nvPr/>
        </p:nvSpPr>
        <p:spPr>
          <a:xfrm>
            <a:off x="914400" y="3771900"/>
            <a:ext cx="7086600" cy="457200"/>
          </a:xfrm>
          <a:prstGeom prst="rect">
            <a:avLst/>
          </a:prstGeom>
          <a:noFill/>
          <a:ln/>
        </p:spPr>
        <p:txBody>
          <a:bodyPr wrap="square" rtlCol="0" anchor="ctr"/>
          <a:lstStyle/>
          <a:p>
            <a:pPr marL="0" indent="0" algn="ctr">
              <a:buNone/>
            </a:pPr>
            <a:r>
              <a:rPr lang="en-US" sz="1500" b="1" dirty="0">
                <a:solidFill>
                  <a:srgbClr val="17365D"/>
                </a:solidFill>
                <a:latin typeface="Calibri" pitchFamily="34" charset="0"/>
                <a:ea typeface="Calibri" pitchFamily="34" charset="-122"/>
                <a:cs typeface="Calibri" pitchFamily="34" charset="-120"/>
              </a:rPr>
              <a:t>[ INSERT POWER BI DELIVERY ANALYSIS SCREENSHOT HERE ]</a:t>
            </a:r>
            <a:endParaRPr lang="en-US" sz="1500" dirty="0"/>
          </a:p>
        </p:txBody>
      </p:sp>
      <p:sp>
        <p:nvSpPr>
          <p:cNvPr id="7" name="Text 4"/>
          <p:cNvSpPr/>
          <p:nvPr/>
        </p:nvSpPr>
        <p:spPr>
          <a:xfrm>
            <a:off x="914400" y="4155948"/>
            <a:ext cx="7086600" cy="365760"/>
          </a:xfrm>
          <a:prstGeom prst="rect">
            <a:avLst/>
          </a:prstGeom>
          <a:noFill/>
          <a:ln/>
        </p:spPr>
        <p:txBody>
          <a:bodyPr wrap="square" rtlCol="0" anchor="ctr"/>
          <a:lstStyle/>
          <a:p>
            <a:pPr marL="0" indent="0" algn="ctr">
              <a:buNone/>
            </a:pPr>
            <a:r>
              <a:rPr lang="en-US" sz="1150" i="1" dirty="0">
                <a:solidFill>
                  <a:srgbClr val="666666"/>
                </a:solidFill>
                <a:latin typeface="Calibri" pitchFamily="34" charset="0"/>
                <a:ea typeface="Calibri" pitchFamily="34" charset="-122"/>
                <a:cs typeface="Calibri" pitchFamily="34" charset="-120"/>
              </a:rPr>
              <a:t>Insert actual Power BI screenshot here</a:t>
            </a:r>
            <a:endParaRPr lang="en-US" sz="1150" dirty="0"/>
          </a:p>
        </p:txBody>
      </p:sp>
      <p:sp>
        <p:nvSpPr>
          <p:cNvPr id="8" name="Text 5"/>
          <p:cNvSpPr/>
          <p:nvPr/>
        </p:nvSpPr>
        <p:spPr>
          <a:xfrm>
            <a:off x="8595360" y="1234440"/>
            <a:ext cx="3044952" cy="320040"/>
          </a:xfrm>
          <a:prstGeom prst="rect">
            <a:avLst/>
          </a:prstGeom>
          <a:noFill/>
          <a:ln/>
        </p:spPr>
        <p:txBody>
          <a:bodyPr wrap="square" rtlCol="0" anchor="ctr"/>
          <a:lstStyle/>
          <a:p>
            <a:pPr marL="0" indent="0">
              <a:buNone/>
            </a:pPr>
            <a:r>
              <a:rPr lang="en-US" sz="1400" b="1" dirty="0">
                <a:solidFill>
                  <a:srgbClr val="666666"/>
                </a:solidFill>
                <a:latin typeface="Calibri" pitchFamily="34" charset="0"/>
                <a:ea typeface="Calibri" pitchFamily="34" charset="-122"/>
                <a:cs typeface="Calibri" pitchFamily="34" charset="-120"/>
              </a:rPr>
              <a:t>Analysis Covered</a:t>
            </a:r>
            <a:endParaRPr lang="en-US" sz="1400" dirty="0"/>
          </a:p>
        </p:txBody>
      </p:sp>
      <p:sp>
        <p:nvSpPr>
          <p:cNvPr id="9" name="Shape 6"/>
          <p:cNvSpPr/>
          <p:nvPr/>
        </p:nvSpPr>
        <p:spPr>
          <a:xfrm>
            <a:off x="8595360" y="1600200"/>
            <a:ext cx="3044952" cy="621792"/>
          </a:xfrm>
          <a:prstGeom prst="roundRect">
            <a:avLst>
              <a:gd name="adj" fmla="val 13235"/>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sp>
        <p:nvSpPr>
          <p:cNvPr id="10" name="Shape 7"/>
          <p:cNvSpPr/>
          <p:nvPr/>
        </p:nvSpPr>
        <p:spPr>
          <a:xfrm>
            <a:off x="8732520" y="1682496"/>
            <a:ext cx="457200" cy="457200"/>
          </a:xfrm>
          <a:prstGeom prst="ellipse">
            <a:avLst/>
          </a:prstGeom>
          <a:solidFill>
            <a:srgbClr val="17365D"/>
          </a:solidFill>
          <a:ln/>
        </p:spPr>
        <p:txBody>
          <a:bodyPr/>
          <a:lstStyle/>
          <a:p>
            <a:endParaRPr lang="en-IN"/>
          </a:p>
        </p:txBody>
      </p:sp>
      <p:pic>
        <p:nvPicPr>
          <p:cNvPr id="11" name="Image 1" descr="icons/city_white.png"/>
          <p:cNvPicPr>
            <a:picLocks noChangeAspect="1"/>
          </p:cNvPicPr>
          <p:nvPr/>
        </p:nvPicPr>
        <p:blipFill>
          <a:blip r:embed="rId4"/>
          <a:stretch>
            <a:fillRect/>
          </a:stretch>
        </p:blipFill>
        <p:spPr>
          <a:xfrm>
            <a:off x="8855964" y="1805940"/>
            <a:ext cx="210312" cy="210312"/>
          </a:xfrm>
          <a:prstGeom prst="rect">
            <a:avLst/>
          </a:prstGeom>
        </p:spPr>
      </p:pic>
      <p:sp>
        <p:nvSpPr>
          <p:cNvPr id="12" name="Text 8"/>
          <p:cNvSpPr/>
          <p:nvPr/>
        </p:nvSpPr>
        <p:spPr>
          <a:xfrm>
            <a:off x="9308592" y="1600200"/>
            <a:ext cx="2176272" cy="621792"/>
          </a:xfrm>
          <a:prstGeom prst="rect">
            <a:avLst/>
          </a:prstGeom>
          <a:noFill/>
          <a:ln/>
        </p:spPr>
        <p:txBody>
          <a:bodyPr wrap="square" rtlCol="0" anchor="ctr"/>
          <a:lstStyle/>
          <a:p>
            <a:pPr marL="0" indent="0">
              <a:lnSpc>
                <a:spcPts val="1300"/>
              </a:lnSpc>
              <a:buNone/>
            </a:pPr>
            <a:r>
              <a:rPr lang="en-US" sz="1150" b="1" dirty="0">
                <a:solidFill>
                  <a:srgbClr val="17365D"/>
                </a:solidFill>
                <a:latin typeface="Calibri" pitchFamily="34" charset="0"/>
                <a:ea typeface="Calibri" pitchFamily="34" charset="-122"/>
                <a:cs typeface="Calibri" pitchFamily="34" charset="-120"/>
              </a:rPr>
              <a:t>Delivery Time by City</a:t>
            </a:r>
            <a:endParaRPr lang="en-US" sz="1150" dirty="0"/>
          </a:p>
        </p:txBody>
      </p:sp>
      <p:sp>
        <p:nvSpPr>
          <p:cNvPr id="13" name="Shape 9"/>
          <p:cNvSpPr/>
          <p:nvPr/>
        </p:nvSpPr>
        <p:spPr>
          <a:xfrm>
            <a:off x="8595360" y="2359152"/>
            <a:ext cx="3044952" cy="621792"/>
          </a:xfrm>
          <a:prstGeom prst="roundRect">
            <a:avLst>
              <a:gd name="adj" fmla="val 13235"/>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sp>
        <p:nvSpPr>
          <p:cNvPr id="14" name="Shape 10"/>
          <p:cNvSpPr/>
          <p:nvPr/>
        </p:nvSpPr>
        <p:spPr>
          <a:xfrm>
            <a:off x="8732520" y="2441448"/>
            <a:ext cx="457200" cy="457200"/>
          </a:xfrm>
          <a:prstGeom prst="ellipse">
            <a:avLst/>
          </a:prstGeom>
          <a:solidFill>
            <a:srgbClr val="17365D"/>
          </a:solidFill>
          <a:ln/>
        </p:spPr>
        <p:txBody>
          <a:bodyPr/>
          <a:lstStyle/>
          <a:p>
            <a:endParaRPr lang="en-IN"/>
          </a:p>
        </p:txBody>
      </p:sp>
      <p:pic>
        <p:nvPicPr>
          <p:cNvPr id="15" name="Image 2" descr="icons/status_white.png"/>
          <p:cNvPicPr>
            <a:picLocks noChangeAspect="1"/>
          </p:cNvPicPr>
          <p:nvPr/>
        </p:nvPicPr>
        <p:blipFill>
          <a:blip r:embed="rId5"/>
          <a:stretch>
            <a:fillRect/>
          </a:stretch>
        </p:blipFill>
        <p:spPr>
          <a:xfrm>
            <a:off x="8855964" y="2564892"/>
            <a:ext cx="210312" cy="210312"/>
          </a:xfrm>
          <a:prstGeom prst="rect">
            <a:avLst/>
          </a:prstGeom>
        </p:spPr>
      </p:pic>
      <p:sp>
        <p:nvSpPr>
          <p:cNvPr id="16" name="Text 11"/>
          <p:cNvSpPr/>
          <p:nvPr/>
        </p:nvSpPr>
        <p:spPr>
          <a:xfrm>
            <a:off x="9308592" y="2359152"/>
            <a:ext cx="2176272" cy="621792"/>
          </a:xfrm>
          <a:prstGeom prst="rect">
            <a:avLst/>
          </a:prstGeom>
          <a:noFill/>
          <a:ln/>
        </p:spPr>
        <p:txBody>
          <a:bodyPr wrap="square" rtlCol="0" anchor="ctr"/>
          <a:lstStyle/>
          <a:p>
            <a:pPr marL="0" indent="0">
              <a:lnSpc>
                <a:spcPts val="1300"/>
              </a:lnSpc>
              <a:buNone/>
            </a:pPr>
            <a:r>
              <a:rPr lang="en-US" sz="1150" b="1" dirty="0">
                <a:solidFill>
                  <a:srgbClr val="17365D"/>
                </a:solidFill>
                <a:latin typeface="Calibri" pitchFamily="34" charset="0"/>
                <a:ea typeface="Calibri" pitchFamily="34" charset="-122"/>
                <a:cs typeface="Calibri" pitchFamily="34" charset="-120"/>
              </a:rPr>
              <a:t>Order Status Analysis</a:t>
            </a:r>
            <a:endParaRPr lang="en-US" sz="1150" dirty="0"/>
          </a:p>
        </p:txBody>
      </p:sp>
      <p:sp>
        <p:nvSpPr>
          <p:cNvPr id="17" name="Shape 12"/>
          <p:cNvSpPr/>
          <p:nvPr/>
        </p:nvSpPr>
        <p:spPr>
          <a:xfrm>
            <a:off x="8595360" y="3118104"/>
            <a:ext cx="3044952" cy="621792"/>
          </a:xfrm>
          <a:prstGeom prst="roundRect">
            <a:avLst>
              <a:gd name="adj" fmla="val 13235"/>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sp>
        <p:nvSpPr>
          <p:cNvPr id="18" name="Shape 13"/>
          <p:cNvSpPr/>
          <p:nvPr/>
        </p:nvSpPr>
        <p:spPr>
          <a:xfrm>
            <a:off x="8732520" y="3200400"/>
            <a:ext cx="457200" cy="457200"/>
          </a:xfrm>
          <a:prstGeom prst="ellipse">
            <a:avLst/>
          </a:prstGeom>
          <a:solidFill>
            <a:srgbClr val="17365D"/>
          </a:solidFill>
          <a:ln/>
        </p:spPr>
        <p:txBody>
          <a:bodyPr/>
          <a:lstStyle/>
          <a:p>
            <a:endParaRPr lang="en-IN"/>
          </a:p>
        </p:txBody>
      </p:sp>
      <p:pic>
        <p:nvPicPr>
          <p:cNvPr id="19" name="Image 3" descr="icons/delivery_white.png"/>
          <p:cNvPicPr>
            <a:picLocks noChangeAspect="1"/>
          </p:cNvPicPr>
          <p:nvPr/>
        </p:nvPicPr>
        <p:blipFill>
          <a:blip r:embed="rId6"/>
          <a:stretch>
            <a:fillRect/>
          </a:stretch>
        </p:blipFill>
        <p:spPr>
          <a:xfrm>
            <a:off x="8855964" y="3323844"/>
            <a:ext cx="210312" cy="210312"/>
          </a:xfrm>
          <a:prstGeom prst="rect">
            <a:avLst/>
          </a:prstGeom>
        </p:spPr>
      </p:pic>
      <p:sp>
        <p:nvSpPr>
          <p:cNvPr id="20" name="Text 14"/>
          <p:cNvSpPr/>
          <p:nvPr/>
        </p:nvSpPr>
        <p:spPr>
          <a:xfrm>
            <a:off x="9308592" y="3118104"/>
            <a:ext cx="2176272" cy="621792"/>
          </a:xfrm>
          <a:prstGeom prst="rect">
            <a:avLst/>
          </a:prstGeom>
          <a:noFill/>
          <a:ln/>
        </p:spPr>
        <p:txBody>
          <a:bodyPr wrap="square" rtlCol="0" anchor="ctr"/>
          <a:lstStyle/>
          <a:p>
            <a:pPr marL="0" indent="0">
              <a:lnSpc>
                <a:spcPts val="1300"/>
              </a:lnSpc>
              <a:buNone/>
            </a:pPr>
            <a:r>
              <a:rPr lang="en-US" sz="1150" b="1" dirty="0">
                <a:solidFill>
                  <a:srgbClr val="17365D"/>
                </a:solidFill>
                <a:latin typeface="Calibri" pitchFamily="34" charset="0"/>
                <a:ea typeface="Calibri" pitchFamily="34" charset="-122"/>
                <a:cs typeface="Calibri" pitchFamily="34" charset="-120"/>
              </a:rPr>
              <a:t>Delivery Performance Comparison</a:t>
            </a:r>
            <a:endParaRPr lang="en-US" sz="1150" dirty="0"/>
          </a:p>
        </p:txBody>
      </p:sp>
      <p:sp>
        <p:nvSpPr>
          <p:cNvPr id="25" name="Shape 18"/>
          <p:cNvSpPr/>
          <p:nvPr/>
        </p:nvSpPr>
        <p:spPr>
          <a:xfrm>
            <a:off x="8595360" y="3877056"/>
            <a:ext cx="3044952" cy="2066544"/>
          </a:xfrm>
          <a:prstGeom prst="roundRect">
            <a:avLst>
              <a:gd name="adj" fmla="val 7407"/>
            </a:avLst>
          </a:prstGeom>
          <a:solidFill>
            <a:srgbClr val="17365D"/>
          </a:solidFill>
          <a:ln/>
        </p:spPr>
        <p:txBody>
          <a:bodyPr/>
          <a:lstStyle/>
          <a:p>
            <a:endParaRPr lang="en-IN"/>
          </a:p>
        </p:txBody>
      </p:sp>
      <p:sp>
        <p:nvSpPr>
          <p:cNvPr id="26" name="Text 19"/>
          <p:cNvSpPr/>
          <p:nvPr/>
        </p:nvSpPr>
        <p:spPr>
          <a:xfrm>
            <a:off x="8796528" y="4325112"/>
            <a:ext cx="2642616" cy="1453896"/>
          </a:xfrm>
          <a:prstGeom prst="rect">
            <a:avLst/>
          </a:prstGeom>
          <a:noFill/>
          <a:ln/>
        </p:spPr>
        <p:txBody>
          <a:bodyPr wrap="square" rtlCol="0" anchor="t"/>
          <a:lstStyle/>
          <a:p>
            <a:pPr marL="0" indent="0">
              <a:lnSpc>
                <a:spcPts val="1500"/>
              </a:lnSpc>
              <a:buNone/>
            </a:pPr>
            <a:r>
              <a:rPr lang="en-US" sz="1600" i="1" dirty="0">
                <a:solidFill>
                  <a:srgbClr val="D8E3F2"/>
                </a:solidFill>
                <a:latin typeface="Calibri" pitchFamily="34" charset="0"/>
                <a:ea typeface="Calibri" pitchFamily="34" charset="-122"/>
                <a:cs typeface="Calibri" pitchFamily="34" charset="-120"/>
              </a:rPr>
              <a:t>Analyzes delivery performance across cities and helps identify potential delivery bottlenecks.</a:t>
            </a:r>
            <a:endParaRPr lang="en-US" sz="1600" dirty="0"/>
          </a:p>
        </p:txBody>
      </p:sp>
      <p:sp>
        <p:nvSpPr>
          <p:cNvPr id="28" name="Text 21"/>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6</a:t>
            </a:r>
            <a:endParaRPr lang="en-US" sz="900" dirty="0"/>
          </a:p>
        </p:txBody>
      </p:sp>
      <p:pic>
        <p:nvPicPr>
          <p:cNvPr id="22" name="Picture 21">
            <a:extLst>
              <a:ext uri="{FF2B5EF4-FFF2-40B4-BE49-F238E27FC236}">
                <a16:creationId xmlns:a16="http://schemas.microsoft.com/office/drawing/2014/main" id="{2D60D846-7ADE-D2E7-E04F-04B605577D89}"/>
              </a:ext>
            </a:extLst>
          </p:cNvPr>
          <p:cNvPicPr>
            <a:picLocks noChangeAspect="1"/>
          </p:cNvPicPr>
          <p:nvPr/>
        </p:nvPicPr>
        <p:blipFill>
          <a:blip r:embed="rId7"/>
          <a:stretch>
            <a:fillRect/>
          </a:stretch>
        </p:blipFill>
        <p:spPr>
          <a:xfrm>
            <a:off x="663365" y="1369402"/>
            <a:ext cx="7597803" cy="44096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11091672" cy="640080"/>
          </a:xfrm>
          <a:prstGeom prst="rect">
            <a:avLst/>
          </a:prstGeom>
          <a:noFill/>
          <a:ln/>
        </p:spPr>
        <p:txBody>
          <a:bodyPr wrap="square" rtlCol="0" anchor="ctr"/>
          <a:lstStyle/>
          <a:p>
            <a:pPr marL="0" indent="0">
              <a:buNone/>
            </a:pPr>
            <a:r>
              <a:rPr lang="en-US" sz="3000" b="1" dirty="0">
                <a:solidFill>
                  <a:srgbClr val="17365D"/>
                </a:solidFill>
                <a:latin typeface="Calibri" pitchFamily="34" charset="0"/>
                <a:ea typeface="Calibri" pitchFamily="34" charset="-122"/>
                <a:cs typeface="Calibri" pitchFamily="34" charset="-120"/>
              </a:rPr>
              <a:t>Restaurant Analysis &amp; Business Insights</a:t>
            </a:r>
            <a:endParaRPr lang="en-US" sz="3000" dirty="0"/>
          </a:p>
        </p:txBody>
      </p:sp>
      <p:sp>
        <p:nvSpPr>
          <p:cNvPr id="3" name="Shape 1"/>
          <p:cNvSpPr/>
          <p:nvPr/>
        </p:nvSpPr>
        <p:spPr>
          <a:xfrm>
            <a:off x="548640" y="1188720"/>
            <a:ext cx="11091672" cy="3169308"/>
          </a:xfrm>
          <a:prstGeom prst="roundRect">
            <a:avLst>
              <a:gd name="adj" fmla="val 3390"/>
            </a:avLst>
          </a:prstGeom>
          <a:solidFill>
            <a:srgbClr val="EDF2F9"/>
          </a:solidFill>
          <a:ln w="19050">
            <a:solidFill>
              <a:srgbClr val="118DFF"/>
            </a:solidFill>
            <a:prstDash val="dash"/>
          </a:ln>
        </p:spPr>
        <p:txBody>
          <a:bodyPr/>
          <a:lstStyle/>
          <a:p>
            <a:endParaRPr lang="en-IN"/>
          </a:p>
        </p:txBody>
      </p:sp>
      <p:sp>
        <p:nvSpPr>
          <p:cNvPr id="4" name="Shape 2"/>
          <p:cNvSpPr/>
          <p:nvPr/>
        </p:nvSpPr>
        <p:spPr>
          <a:xfrm>
            <a:off x="5728716" y="1572768"/>
            <a:ext cx="731520" cy="731520"/>
          </a:xfrm>
          <a:prstGeom prst="ellipse">
            <a:avLst/>
          </a:prstGeom>
          <a:solidFill>
            <a:srgbClr val="118DFF"/>
          </a:solidFill>
          <a:ln/>
        </p:spPr>
        <p:txBody>
          <a:bodyPr/>
          <a:lstStyle/>
          <a:p>
            <a:endParaRPr lang="en-IN"/>
          </a:p>
        </p:txBody>
      </p:sp>
      <p:pic>
        <p:nvPicPr>
          <p:cNvPr id="5" name="Image 0" descr="icons/powerbi_white.png"/>
          <p:cNvPicPr>
            <a:picLocks noChangeAspect="1"/>
          </p:cNvPicPr>
          <p:nvPr/>
        </p:nvPicPr>
        <p:blipFill>
          <a:blip r:embed="rId3"/>
          <a:stretch>
            <a:fillRect/>
          </a:stretch>
        </p:blipFill>
        <p:spPr>
          <a:xfrm>
            <a:off x="5926226" y="1770278"/>
            <a:ext cx="336499" cy="336499"/>
          </a:xfrm>
          <a:prstGeom prst="rect">
            <a:avLst/>
          </a:prstGeom>
        </p:spPr>
      </p:pic>
      <p:sp>
        <p:nvSpPr>
          <p:cNvPr id="6" name="Text 3"/>
          <p:cNvSpPr/>
          <p:nvPr/>
        </p:nvSpPr>
        <p:spPr>
          <a:xfrm>
            <a:off x="914400" y="2468880"/>
            <a:ext cx="10360152" cy="365760"/>
          </a:xfrm>
          <a:prstGeom prst="rect">
            <a:avLst/>
          </a:prstGeom>
          <a:noFill/>
          <a:ln/>
        </p:spPr>
        <p:txBody>
          <a:bodyPr wrap="square" rtlCol="0" anchor="ctr"/>
          <a:lstStyle/>
          <a:p>
            <a:pPr marL="0" indent="0" algn="ctr">
              <a:buNone/>
            </a:pPr>
            <a:r>
              <a:rPr lang="en-US" sz="1400" b="1" dirty="0">
                <a:solidFill>
                  <a:srgbClr val="17365D"/>
                </a:solidFill>
                <a:latin typeface="Calibri" pitchFamily="34" charset="0"/>
                <a:ea typeface="Calibri" pitchFamily="34" charset="-122"/>
                <a:cs typeface="Calibri" pitchFamily="34" charset="-120"/>
              </a:rPr>
              <a:t>[ INSERT POWER BI RESTAURANT ANALYSIS SCREENSHOT HERE ]</a:t>
            </a:r>
            <a:endParaRPr lang="en-US" sz="1400" dirty="0"/>
          </a:p>
        </p:txBody>
      </p:sp>
      <p:sp>
        <p:nvSpPr>
          <p:cNvPr id="7" name="Text 4"/>
          <p:cNvSpPr/>
          <p:nvPr/>
        </p:nvSpPr>
        <p:spPr>
          <a:xfrm>
            <a:off x="914400" y="2852928"/>
            <a:ext cx="10360152" cy="320040"/>
          </a:xfrm>
          <a:prstGeom prst="rect">
            <a:avLst/>
          </a:prstGeom>
          <a:noFill/>
          <a:ln/>
        </p:spPr>
        <p:txBody>
          <a:bodyPr wrap="square" rtlCol="0" anchor="ctr"/>
          <a:lstStyle/>
          <a:p>
            <a:pPr marL="0" indent="0" algn="ctr">
              <a:buNone/>
            </a:pPr>
            <a:r>
              <a:rPr lang="en-US" sz="1100" i="1" dirty="0">
                <a:solidFill>
                  <a:srgbClr val="666666"/>
                </a:solidFill>
                <a:latin typeface="Calibri" pitchFamily="34" charset="0"/>
                <a:ea typeface="Calibri" pitchFamily="34" charset="-122"/>
                <a:cs typeface="Calibri" pitchFamily="34" charset="-120"/>
              </a:rPr>
              <a:t>Insert actual Power BI screenshot here</a:t>
            </a:r>
            <a:endParaRPr lang="en-US" sz="1100" dirty="0"/>
          </a:p>
        </p:txBody>
      </p:sp>
      <p:sp>
        <p:nvSpPr>
          <p:cNvPr id="8" name="Shape 5"/>
          <p:cNvSpPr/>
          <p:nvPr/>
        </p:nvSpPr>
        <p:spPr>
          <a:xfrm>
            <a:off x="548640" y="4465928"/>
            <a:ext cx="3453384" cy="502920"/>
          </a:xfrm>
          <a:prstGeom prst="roundRect">
            <a:avLst>
              <a:gd name="adj" fmla="val 49091"/>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pic>
        <p:nvPicPr>
          <p:cNvPr id="9" name="Image 1" descr="icons/top_blue.png"/>
          <p:cNvPicPr>
            <a:picLocks noChangeAspect="1"/>
          </p:cNvPicPr>
          <p:nvPr/>
        </p:nvPicPr>
        <p:blipFill>
          <a:blip r:embed="rId4"/>
          <a:stretch>
            <a:fillRect/>
          </a:stretch>
        </p:blipFill>
        <p:spPr>
          <a:xfrm>
            <a:off x="676656" y="4557368"/>
            <a:ext cx="320040" cy="320040"/>
          </a:xfrm>
          <a:prstGeom prst="rect">
            <a:avLst/>
          </a:prstGeom>
        </p:spPr>
      </p:pic>
      <p:sp>
        <p:nvSpPr>
          <p:cNvPr id="10" name="Text 6"/>
          <p:cNvSpPr/>
          <p:nvPr/>
        </p:nvSpPr>
        <p:spPr>
          <a:xfrm>
            <a:off x="1078992" y="4465928"/>
            <a:ext cx="2795016" cy="502920"/>
          </a:xfrm>
          <a:prstGeom prst="rect">
            <a:avLst/>
          </a:prstGeom>
          <a:noFill/>
          <a:ln/>
        </p:spPr>
        <p:txBody>
          <a:bodyPr wrap="square" rtlCol="0" anchor="ctr"/>
          <a:lstStyle/>
          <a:p>
            <a:pPr marL="0" indent="0">
              <a:buNone/>
            </a:pPr>
            <a:r>
              <a:rPr lang="en-US" sz="1200" b="1" dirty="0">
                <a:solidFill>
                  <a:srgbClr val="17365D"/>
                </a:solidFill>
                <a:latin typeface="Calibri" pitchFamily="34" charset="0"/>
                <a:ea typeface="Calibri" pitchFamily="34" charset="-122"/>
                <a:cs typeface="Calibri" pitchFamily="34" charset="-120"/>
              </a:rPr>
              <a:t>Top Restaurants</a:t>
            </a:r>
            <a:endParaRPr lang="en-US" sz="1200" dirty="0"/>
          </a:p>
        </p:txBody>
      </p:sp>
      <p:sp>
        <p:nvSpPr>
          <p:cNvPr id="11" name="Shape 7"/>
          <p:cNvSpPr/>
          <p:nvPr/>
        </p:nvSpPr>
        <p:spPr>
          <a:xfrm>
            <a:off x="4367784" y="4445812"/>
            <a:ext cx="3453384" cy="502920"/>
          </a:xfrm>
          <a:prstGeom prst="roundRect">
            <a:avLst>
              <a:gd name="adj" fmla="val 49091"/>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pic>
        <p:nvPicPr>
          <p:cNvPr id="12" name="Image 2" descr="icons/moneybag_blue.png"/>
          <p:cNvPicPr>
            <a:picLocks noChangeAspect="1"/>
          </p:cNvPicPr>
          <p:nvPr/>
        </p:nvPicPr>
        <p:blipFill>
          <a:blip r:embed="rId5"/>
          <a:stretch>
            <a:fillRect/>
          </a:stretch>
        </p:blipFill>
        <p:spPr>
          <a:xfrm>
            <a:off x="4495800" y="4537252"/>
            <a:ext cx="320040" cy="320040"/>
          </a:xfrm>
          <a:prstGeom prst="rect">
            <a:avLst/>
          </a:prstGeom>
        </p:spPr>
      </p:pic>
      <p:sp>
        <p:nvSpPr>
          <p:cNvPr id="13" name="Text 8"/>
          <p:cNvSpPr/>
          <p:nvPr/>
        </p:nvSpPr>
        <p:spPr>
          <a:xfrm>
            <a:off x="4898136" y="4445812"/>
            <a:ext cx="2795016" cy="502920"/>
          </a:xfrm>
          <a:prstGeom prst="rect">
            <a:avLst/>
          </a:prstGeom>
          <a:noFill/>
          <a:ln/>
        </p:spPr>
        <p:txBody>
          <a:bodyPr wrap="square" rtlCol="0" anchor="ctr"/>
          <a:lstStyle/>
          <a:p>
            <a:pPr marL="0" indent="0">
              <a:buNone/>
            </a:pPr>
            <a:r>
              <a:rPr lang="en-US" sz="1200" b="1" dirty="0">
                <a:solidFill>
                  <a:srgbClr val="17365D"/>
                </a:solidFill>
                <a:latin typeface="Calibri" pitchFamily="34" charset="0"/>
                <a:ea typeface="Calibri" pitchFamily="34" charset="-122"/>
                <a:cs typeface="Calibri" pitchFamily="34" charset="-120"/>
              </a:rPr>
              <a:t>Revenue by Restaurant</a:t>
            </a:r>
            <a:endParaRPr lang="en-US" sz="1200" dirty="0"/>
          </a:p>
        </p:txBody>
      </p:sp>
      <p:sp>
        <p:nvSpPr>
          <p:cNvPr id="14" name="Shape 9"/>
          <p:cNvSpPr/>
          <p:nvPr/>
        </p:nvSpPr>
        <p:spPr>
          <a:xfrm>
            <a:off x="8223504" y="4468976"/>
            <a:ext cx="3453384" cy="502920"/>
          </a:xfrm>
          <a:prstGeom prst="roundRect">
            <a:avLst>
              <a:gd name="adj" fmla="val 49091"/>
            </a:avLst>
          </a:prstGeom>
          <a:solidFill>
            <a:srgbClr val="FFFFFF"/>
          </a:solidFill>
          <a:ln w="12700">
            <a:solidFill>
              <a:srgbClr val="E3E9F2"/>
            </a:solidFill>
            <a:prstDash val="solid"/>
          </a:ln>
          <a:effectLst>
            <a:outerShdw blurRad="50800" dist="25400" dir="5400000" algn="bl" rotWithShape="0">
              <a:srgbClr val="17365D">
                <a:alpha val="12000"/>
              </a:srgbClr>
            </a:outerShdw>
          </a:effectLst>
        </p:spPr>
        <p:txBody>
          <a:bodyPr/>
          <a:lstStyle/>
          <a:p>
            <a:endParaRPr lang="en-IN"/>
          </a:p>
        </p:txBody>
      </p:sp>
      <p:pic>
        <p:nvPicPr>
          <p:cNvPr id="15" name="Image 3" descr="icons/restaurant_blue.png"/>
          <p:cNvPicPr>
            <a:picLocks noChangeAspect="1"/>
          </p:cNvPicPr>
          <p:nvPr/>
        </p:nvPicPr>
        <p:blipFill>
          <a:blip r:embed="rId6"/>
          <a:stretch>
            <a:fillRect/>
          </a:stretch>
        </p:blipFill>
        <p:spPr>
          <a:xfrm>
            <a:off x="8351520" y="4560416"/>
            <a:ext cx="320040" cy="320040"/>
          </a:xfrm>
          <a:prstGeom prst="rect">
            <a:avLst/>
          </a:prstGeom>
        </p:spPr>
      </p:pic>
      <p:sp>
        <p:nvSpPr>
          <p:cNvPr id="16" name="Text 10"/>
          <p:cNvSpPr/>
          <p:nvPr/>
        </p:nvSpPr>
        <p:spPr>
          <a:xfrm>
            <a:off x="8753856" y="4468976"/>
            <a:ext cx="2795016" cy="502920"/>
          </a:xfrm>
          <a:prstGeom prst="rect">
            <a:avLst/>
          </a:prstGeom>
          <a:noFill/>
          <a:ln/>
        </p:spPr>
        <p:txBody>
          <a:bodyPr wrap="square" rtlCol="0" anchor="ctr"/>
          <a:lstStyle/>
          <a:p>
            <a:pPr marL="0" indent="0">
              <a:buNone/>
            </a:pPr>
            <a:r>
              <a:rPr lang="en-US" sz="1200" b="1" dirty="0">
                <a:solidFill>
                  <a:srgbClr val="17365D"/>
                </a:solidFill>
                <a:latin typeface="Calibri" pitchFamily="34" charset="0"/>
                <a:ea typeface="Calibri" pitchFamily="34" charset="-122"/>
                <a:cs typeface="Calibri" pitchFamily="34" charset="-120"/>
              </a:rPr>
              <a:t>Restaurant Performance</a:t>
            </a:r>
            <a:endParaRPr lang="en-US" sz="1200" dirty="0"/>
          </a:p>
        </p:txBody>
      </p:sp>
      <p:sp>
        <p:nvSpPr>
          <p:cNvPr id="17" name="Text 11"/>
          <p:cNvSpPr/>
          <p:nvPr/>
        </p:nvSpPr>
        <p:spPr>
          <a:xfrm>
            <a:off x="548640" y="4928616"/>
            <a:ext cx="5486400" cy="451712"/>
          </a:xfrm>
          <a:prstGeom prst="rect">
            <a:avLst/>
          </a:prstGeom>
          <a:noFill/>
          <a:ln/>
        </p:spPr>
        <p:txBody>
          <a:bodyPr wrap="square" rtlCol="0" anchor="ctr"/>
          <a:lstStyle/>
          <a:p>
            <a:pPr marL="0" indent="0">
              <a:buNone/>
            </a:pPr>
            <a:r>
              <a:rPr lang="en-US" sz="1350" b="1" dirty="0">
                <a:solidFill>
                  <a:srgbClr val="666666"/>
                </a:solidFill>
                <a:latin typeface="Calibri" pitchFamily="34" charset="0"/>
                <a:ea typeface="Calibri" pitchFamily="34" charset="-122"/>
                <a:cs typeface="Calibri" pitchFamily="34" charset="-120"/>
              </a:rPr>
              <a:t>Key Business Insights</a:t>
            </a:r>
            <a:endParaRPr lang="en-US" sz="1350" dirty="0"/>
          </a:p>
        </p:txBody>
      </p:sp>
      <p:sp>
        <p:nvSpPr>
          <p:cNvPr id="18" name="Shape 12"/>
          <p:cNvSpPr/>
          <p:nvPr/>
        </p:nvSpPr>
        <p:spPr>
          <a:xfrm>
            <a:off x="585216" y="5349240"/>
            <a:ext cx="3453384" cy="914400"/>
          </a:xfrm>
          <a:prstGeom prst="roundRect">
            <a:avLst>
              <a:gd name="adj" fmla="val 10000"/>
            </a:avLst>
          </a:prstGeom>
          <a:solidFill>
            <a:srgbClr val="17365D"/>
          </a:solidFill>
          <a:ln/>
        </p:spPr>
        <p:txBody>
          <a:bodyPr/>
          <a:lstStyle/>
          <a:p>
            <a:endParaRPr lang="en-IN"/>
          </a:p>
        </p:txBody>
      </p:sp>
      <p:pic>
        <p:nvPicPr>
          <p:cNvPr id="19" name="Image 4" descr="icons/bottleneck_orange.png"/>
          <p:cNvPicPr>
            <a:picLocks noChangeAspect="1"/>
          </p:cNvPicPr>
          <p:nvPr/>
        </p:nvPicPr>
        <p:blipFill>
          <a:blip r:embed="rId7"/>
          <a:stretch>
            <a:fillRect/>
          </a:stretch>
        </p:blipFill>
        <p:spPr>
          <a:xfrm>
            <a:off x="768096" y="5495544"/>
            <a:ext cx="329184" cy="329184"/>
          </a:xfrm>
          <a:prstGeom prst="rect">
            <a:avLst/>
          </a:prstGeom>
        </p:spPr>
      </p:pic>
      <p:sp>
        <p:nvSpPr>
          <p:cNvPr id="20" name="Text 13"/>
          <p:cNvSpPr/>
          <p:nvPr/>
        </p:nvSpPr>
        <p:spPr>
          <a:xfrm>
            <a:off x="1207008" y="5468112"/>
            <a:ext cx="2648712"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Delivery Bottlenecks</a:t>
            </a:r>
            <a:endParaRPr lang="en-US" sz="1250" dirty="0"/>
          </a:p>
        </p:txBody>
      </p:sp>
      <p:sp>
        <p:nvSpPr>
          <p:cNvPr id="21" name="Text 14"/>
          <p:cNvSpPr/>
          <p:nvPr/>
        </p:nvSpPr>
        <p:spPr>
          <a:xfrm>
            <a:off x="768096" y="5833872"/>
            <a:ext cx="3087624" cy="402336"/>
          </a:xfrm>
          <a:prstGeom prst="rect">
            <a:avLst/>
          </a:prstGeom>
          <a:noFill/>
          <a:ln/>
        </p:spPr>
        <p:txBody>
          <a:bodyPr wrap="square" rtlCol="0" anchor="ctr"/>
          <a:lstStyle/>
          <a:p>
            <a:pPr marL="0" indent="0">
              <a:lnSpc>
                <a:spcPts val="1200"/>
              </a:lnSpc>
              <a:buNone/>
            </a:pPr>
            <a:r>
              <a:rPr lang="en-US" sz="1000" dirty="0">
                <a:solidFill>
                  <a:srgbClr val="CADCFC"/>
                </a:solidFill>
                <a:latin typeface="Calibri" pitchFamily="34" charset="0"/>
                <a:ea typeface="Calibri" pitchFamily="34" charset="-122"/>
                <a:cs typeface="Calibri" pitchFamily="34" charset="-120"/>
              </a:rPr>
              <a:t>Identify areas where delivery performance needs improvement</a:t>
            </a:r>
            <a:endParaRPr lang="en-US" sz="1000" dirty="0"/>
          </a:p>
        </p:txBody>
      </p:sp>
      <p:sp>
        <p:nvSpPr>
          <p:cNvPr id="22" name="Shape 15"/>
          <p:cNvSpPr/>
          <p:nvPr/>
        </p:nvSpPr>
        <p:spPr>
          <a:xfrm>
            <a:off x="4386072" y="5349240"/>
            <a:ext cx="3453384" cy="914400"/>
          </a:xfrm>
          <a:prstGeom prst="roundRect">
            <a:avLst>
              <a:gd name="adj" fmla="val 10000"/>
            </a:avLst>
          </a:prstGeom>
          <a:solidFill>
            <a:srgbClr val="17365D"/>
          </a:solidFill>
          <a:ln/>
        </p:spPr>
        <p:txBody>
          <a:bodyPr/>
          <a:lstStyle/>
          <a:p>
            <a:endParaRPr lang="en-IN"/>
          </a:p>
        </p:txBody>
      </p:sp>
      <p:pic>
        <p:nvPicPr>
          <p:cNvPr id="23" name="Image 5" descr="icons/popular_orange.png"/>
          <p:cNvPicPr>
            <a:picLocks noChangeAspect="1"/>
          </p:cNvPicPr>
          <p:nvPr/>
        </p:nvPicPr>
        <p:blipFill>
          <a:blip r:embed="rId8"/>
          <a:stretch>
            <a:fillRect/>
          </a:stretch>
        </p:blipFill>
        <p:spPr>
          <a:xfrm>
            <a:off x="4568952" y="5495544"/>
            <a:ext cx="329184" cy="329184"/>
          </a:xfrm>
          <a:prstGeom prst="rect">
            <a:avLst/>
          </a:prstGeom>
        </p:spPr>
      </p:pic>
      <p:sp>
        <p:nvSpPr>
          <p:cNvPr id="24" name="Text 16"/>
          <p:cNvSpPr/>
          <p:nvPr/>
        </p:nvSpPr>
        <p:spPr>
          <a:xfrm>
            <a:off x="5007864" y="5468112"/>
            <a:ext cx="2648712"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Popular Restaurants</a:t>
            </a:r>
            <a:endParaRPr lang="en-US" sz="1250" dirty="0"/>
          </a:p>
        </p:txBody>
      </p:sp>
      <p:sp>
        <p:nvSpPr>
          <p:cNvPr id="25" name="Text 17"/>
          <p:cNvSpPr/>
          <p:nvPr/>
        </p:nvSpPr>
        <p:spPr>
          <a:xfrm>
            <a:off x="4568952" y="5833872"/>
            <a:ext cx="3087624" cy="402336"/>
          </a:xfrm>
          <a:prstGeom prst="rect">
            <a:avLst/>
          </a:prstGeom>
          <a:noFill/>
          <a:ln/>
        </p:spPr>
        <p:txBody>
          <a:bodyPr wrap="square" rtlCol="0" anchor="ctr"/>
          <a:lstStyle/>
          <a:p>
            <a:pPr marL="0" indent="0">
              <a:lnSpc>
                <a:spcPts val="1200"/>
              </a:lnSpc>
              <a:buNone/>
            </a:pPr>
            <a:r>
              <a:rPr lang="en-US" sz="1000" dirty="0">
                <a:solidFill>
                  <a:srgbClr val="CADCFC"/>
                </a:solidFill>
                <a:latin typeface="Calibri" pitchFamily="34" charset="0"/>
                <a:ea typeface="Calibri" pitchFamily="34" charset="-122"/>
                <a:cs typeface="Calibri" pitchFamily="34" charset="-120"/>
              </a:rPr>
              <a:t>Identify restaurants receiving strong customer demand</a:t>
            </a:r>
            <a:endParaRPr lang="en-US" sz="1000" dirty="0"/>
          </a:p>
        </p:txBody>
      </p:sp>
      <p:sp>
        <p:nvSpPr>
          <p:cNvPr id="26" name="Shape 18"/>
          <p:cNvSpPr/>
          <p:nvPr/>
        </p:nvSpPr>
        <p:spPr>
          <a:xfrm>
            <a:off x="8186928" y="5349240"/>
            <a:ext cx="3453384" cy="914400"/>
          </a:xfrm>
          <a:prstGeom prst="roundRect">
            <a:avLst>
              <a:gd name="adj" fmla="val 10000"/>
            </a:avLst>
          </a:prstGeom>
          <a:solidFill>
            <a:srgbClr val="17365D"/>
          </a:solidFill>
          <a:ln/>
        </p:spPr>
        <p:txBody>
          <a:bodyPr/>
          <a:lstStyle/>
          <a:p>
            <a:endParaRPr lang="en-IN"/>
          </a:p>
        </p:txBody>
      </p:sp>
      <p:pic>
        <p:nvPicPr>
          <p:cNvPr id="27" name="Image 6" descr="icons/satisfaction_orange.png"/>
          <p:cNvPicPr>
            <a:picLocks noChangeAspect="1"/>
          </p:cNvPicPr>
          <p:nvPr/>
        </p:nvPicPr>
        <p:blipFill>
          <a:blip r:embed="rId9"/>
          <a:stretch>
            <a:fillRect/>
          </a:stretch>
        </p:blipFill>
        <p:spPr>
          <a:xfrm>
            <a:off x="8369808" y="5495544"/>
            <a:ext cx="329184" cy="329184"/>
          </a:xfrm>
          <a:prstGeom prst="rect">
            <a:avLst/>
          </a:prstGeom>
        </p:spPr>
      </p:pic>
      <p:sp>
        <p:nvSpPr>
          <p:cNvPr id="28" name="Text 19"/>
          <p:cNvSpPr/>
          <p:nvPr/>
        </p:nvSpPr>
        <p:spPr>
          <a:xfrm>
            <a:off x="8808720" y="5468112"/>
            <a:ext cx="2648712"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Customer Satisfaction</a:t>
            </a:r>
            <a:endParaRPr lang="en-US" sz="1250" dirty="0"/>
          </a:p>
        </p:txBody>
      </p:sp>
      <p:sp>
        <p:nvSpPr>
          <p:cNvPr id="29" name="Text 20"/>
          <p:cNvSpPr/>
          <p:nvPr/>
        </p:nvSpPr>
        <p:spPr>
          <a:xfrm>
            <a:off x="8369808" y="5833872"/>
            <a:ext cx="3087624" cy="402336"/>
          </a:xfrm>
          <a:prstGeom prst="rect">
            <a:avLst/>
          </a:prstGeom>
          <a:noFill/>
          <a:ln/>
        </p:spPr>
        <p:txBody>
          <a:bodyPr wrap="square" rtlCol="0" anchor="ctr"/>
          <a:lstStyle/>
          <a:p>
            <a:pPr marL="0" indent="0">
              <a:lnSpc>
                <a:spcPts val="1200"/>
              </a:lnSpc>
              <a:buNone/>
            </a:pPr>
            <a:r>
              <a:rPr lang="en-US" sz="1000" dirty="0">
                <a:solidFill>
                  <a:srgbClr val="CADCFC"/>
                </a:solidFill>
                <a:latin typeface="Calibri" pitchFamily="34" charset="0"/>
                <a:ea typeface="Calibri" pitchFamily="34" charset="-122"/>
                <a:cs typeface="Calibri" pitchFamily="34" charset="-120"/>
              </a:rPr>
              <a:t>Understand satisfaction trends through ratings</a:t>
            </a:r>
            <a:endParaRPr lang="en-US" sz="1000" dirty="0"/>
          </a:p>
        </p:txBody>
      </p:sp>
      <p:sp>
        <p:nvSpPr>
          <p:cNvPr id="31" name="Text 22"/>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7</a:t>
            </a:r>
            <a:endParaRPr lang="en-US" sz="900" dirty="0"/>
          </a:p>
        </p:txBody>
      </p:sp>
      <p:pic>
        <p:nvPicPr>
          <p:cNvPr id="33" name="Picture 32">
            <a:extLst>
              <a:ext uri="{FF2B5EF4-FFF2-40B4-BE49-F238E27FC236}">
                <a16:creationId xmlns:a16="http://schemas.microsoft.com/office/drawing/2014/main" id="{6DF0BE0C-B9DD-BF8B-07A2-0EA29C664FDB}"/>
              </a:ext>
            </a:extLst>
          </p:cNvPr>
          <p:cNvPicPr>
            <a:picLocks noChangeAspect="1"/>
          </p:cNvPicPr>
          <p:nvPr/>
        </p:nvPicPr>
        <p:blipFill>
          <a:blip r:embed="rId10"/>
          <a:stretch>
            <a:fillRect/>
          </a:stretch>
        </p:blipFill>
        <p:spPr>
          <a:xfrm>
            <a:off x="676656" y="1306761"/>
            <a:ext cx="10835640" cy="29836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7365D"/>
          </a:solidFill>
          <a:ln/>
        </p:spPr>
        <p:txBody>
          <a:bodyPr/>
          <a:lstStyle/>
          <a:p>
            <a:endParaRPr lang="en-IN"/>
          </a:p>
        </p:txBody>
      </p:sp>
      <p:sp>
        <p:nvSpPr>
          <p:cNvPr id="3" name="Shape 1"/>
          <p:cNvSpPr/>
          <p:nvPr/>
        </p:nvSpPr>
        <p:spPr>
          <a:xfrm>
            <a:off x="-1371600" y="4389120"/>
            <a:ext cx="4572000" cy="4572000"/>
          </a:xfrm>
          <a:prstGeom prst="ellipse">
            <a:avLst/>
          </a:prstGeom>
          <a:solidFill>
            <a:srgbClr val="1F4373"/>
          </a:solidFill>
          <a:ln/>
        </p:spPr>
        <p:txBody>
          <a:bodyPr/>
          <a:lstStyle/>
          <a:p>
            <a:endParaRPr lang="en-IN"/>
          </a:p>
        </p:txBody>
      </p:sp>
      <p:sp>
        <p:nvSpPr>
          <p:cNvPr id="4" name="Shape 2"/>
          <p:cNvSpPr/>
          <p:nvPr/>
        </p:nvSpPr>
        <p:spPr>
          <a:xfrm>
            <a:off x="10241280" y="-1463040"/>
            <a:ext cx="3657600" cy="3657600"/>
          </a:xfrm>
          <a:prstGeom prst="ellipse">
            <a:avLst/>
          </a:prstGeom>
          <a:solidFill>
            <a:srgbClr val="1F4373"/>
          </a:solidFill>
          <a:ln/>
        </p:spPr>
        <p:txBody>
          <a:bodyPr/>
          <a:lstStyle/>
          <a:p>
            <a:endParaRPr lang="en-IN"/>
          </a:p>
        </p:txBody>
      </p:sp>
      <p:sp>
        <p:nvSpPr>
          <p:cNvPr id="5" name="Text 3"/>
          <p:cNvSpPr/>
          <p:nvPr/>
        </p:nvSpPr>
        <p:spPr>
          <a:xfrm>
            <a:off x="640080" y="502920"/>
            <a:ext cx="7315200"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6" name="Text 4"/>
          <p:cNvSpPr/>
          <p:nvPr/>
        </p:nvSpPr>
        <p:spPr>
          <a:xfrm>
            <a:off x="640080" y="1234440"/>
            <a:ext cx="10881360" cy="1188720"/>
          </a:xfrm>
          <a:prstGeom prst="rect">
            <a:avLst/>
          </a:prstGeom>
          <a:noFill/>
          <a:ln/>
        </p:spPr>
        <p:txBody>
          <a:bodyPr wrap="square" rtlCol="0" anchor="ctr"/>
          <a:lstStyle/>
          <a:p>
            <a:pPr marL="0" indent="0">
              <a:lnSpc>
                <a:spcPts val="2100"/>
              </a:lnSpc>
              <a:buNone/>
            </a:pPr>
            <a:r>
              <a:rPr lang="en-US" sz="1500" dirty="0">
                <a:solidFill>
                  <a:srgbClr val="D8E3F2"/>
                </a:solidFill>
                <a:latin typeface="Calibri" pitchFamily="34" charset="0"/>
                <a:ea typeface="Calibri" pitchFamily="34" charset="-122"/>
                <a:cs typeface="Calibri" pitchFamily="34" charset="-120"/>
              </a:rPr>
              <a:t>The Food Delivery Analysis Dashboard provides an interactive way to monitor food delivery operations using Power BI. It helps analyze orders, revenue, delivery performance, restaurant performance, and customer ratings, supporting better operational insights and data-driven decision-making.</a:t>
            </a:r>
            <a:endParaRPr lang="en-US" sz="1500" dirty="0"/>
          </a:p>
        </p:txBody>
      </p:sp>
      <p:sp>
        <p:nvSpPr>
          <p:cNvPr id="7" name="Shape 5"/>
          <p:cNvSpPr/>
          <p:nvPr/>
        </p:nvSpPr>
        <p:spPr>
          <a:xfrm>
            <a:off x="548640" y="2606040"/>
            <a:ext cx="2567178" cy="1554480"/>
          </a:xfrm>
          <a:prstGeom prst="roundRect">
            <a:avLst>
              <a:gd name="adj" fmla="val 5882"/>
            </a:avLst>
          </a:prstGeom>
          <a:solidFill>
            <a:srgbClr val="1F4373"/>
          </a:solidFill>
          <a:ln/>
        </p:spPr>
        <p:txBody>
          <a:bodyPr/>
          <a:lstStyle/>
          <a:p>
            <a:endParaRPr lang="en-IN"/>
          </a:p>
        </p:txBody>
      </p:sp>
      <p:sp>
        <p:nvSpPr>
          <p:cNvPr id="8" name="Shape 6"/>
          <p:cNvSpPr/>
          <p:nvPr/>
        </p:nvSpPr>
        <p:spPr>
          <a:xfrm>
            <a:off x="1557909" y="2807208"/>
            <a:ext cx="548640" cy="548640"/>
          </a:xfrm>
          <a:prstGeom prst="ellipse">
            <a:avLst/>
          </a:prstGeom>
          <a:solidFill>
            <a:srgbClr val="F2A900"/>
          </a:solidFill>
          <a:ln/>
        </p:spPr>
        <p:txBody>
          <a:bodyPr/>
          <a:lstStyle/>
          <a:p>
            <a:endParaRPr lang="en-IN"/>
          </a:p>
        </p:txBody>
      </p:sp>
      <p:pic>
        <p:nvPicPr>
          <p:cNvPr id="9" name="Image 0" descr="icons/orders_navy.png"/>
          <p:cNvPicPr>
            <a:picLocks noChangeAspect="1"/>
          </p:cNvPicPr>
          <p:nvPr/>
        </p:nvPicPr>
        <p:blipFill>
          <a:blip r:embed="rId3"/>
          <a:stretch>
            <a:fillRect/>
          </a:stretch>
        </p:blipFill>
        <p:spPr>
          <a:xfrm>
            <a:off x="1706042" y="2955341"/>
            <a:ext cx="252374" cy="252374"/>
          </a:xfrm>
          <a:prstGeom prst="rect">
            <a:avLst/>
          </a:prstGeom>
        </p:spPr>
      </p:pic>
      <p:sp>
        <p:nvSpPr>
          <p:cNvPr id="10" name="Text 7"/>
          <p:cNvSpPr/>
          <p:nvPr/>
        </p:nvSpPr>
        <p:spPr>
          <a:xfrm>
            <a:off x="640080" y="3474720"/>
            <a:ext cx="2384298"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Orders</a:t>
            </a:r>
            <a:endParaRPr lang="en-US" sz="1300" dirty="0"/>
          </a:p>
        </p:txBody>
      </p:sp>
      <p:sp>
        <p:nvSpPr>
          <p:cNvPr id="11" name="Text 8"/>
          <p:cNvSpPr/>
          <p:nvPr/>
        </p:nvSpPr>
        <p:spPr>
          <a:xfrm>
            <a:off x="640080" y="3776472"/>
            <a:ext cx="2384298" cy="365760"/>
          </a:xfrm>
          <a:prstGeom prst="rect">
            <a:avLst/>
          </a:prstGeom>
          <a:noFill/>
          <a:ln/>
        </p:spPr>
        <p:txBody>
          <a:bodyPr wrap="square" rtlCol="0" anchor="ctr"/>
          <a:lstStyle/>
          <a:p>
            <a:pPr marL="0" indent="0" algn="ctr">
              <a:lnSpc>
                <a:spcPts val="1200"/>
              </a:lnSpc>
              <a:buNone/>
            </a:pPr>
            <a:r>
              <a:rPr lang="en-US" sz="1000" dirty="0">
                <a:solidFill>
                  <a:srgbClr val="CADCFC"/>
                </a:solidFill>
                <a:latin typeface="Calibri" pitchFamily="34" charset="0"/>
                <a:ea typeface="Calibri" pitchFamily="34" charset="-122"/>
                <a:cs typeface="Calibri" pitchFamily="34" charset="-120"/>
              </a:rPr>
              <a:t>Monitor order activity</a:t>
            </a:r>
            <a:endParaRPr lang="en-US" sz="1000" dirty="0"/>
          </a:p>
        </p:txBody>
      </p:sp>
      <p:sp>
        <p:nvSpPr>
          <p:cNvPr id="12" name="Shape 9"/>
          <p:cNvSpPr/>
          <p:nvPr/>
        </p:nvSpPr>
        <p:spPr>
          <a:xfrm>
            <a:off x="3390138" y="2606040"/>
            <a:ext cx="2567178" cy="1554480"/>
          </a:xfrm>
          <a:prstGeom prst="roundRect">
            <a:avLst>
              <a:gd name="adj" fmla="val 5882"/>
            </a:avLst>
          </a:prstGeom>
          <a:solidFill>
            <a:srgbClr val="1F4373"/>
          </a:solidFill>
          <a:ln/>
        </p:spPr>
        <p:txBody>
          <a:bodyPr/>
          <a:lstStyle/>
          <a:p>
            <a:endParaRPr lang="en-IN"/>
          </a:p>
        </p:txBody>
      </p:sp>
      <p:sp>
        <p:nvSpPr>
          <p:cNvPr id="13" name="Shape 10"/>
          <p:cNvSpPr/>
          <p:nvPr/>
        </p:nvSpPr>
        <p:spPr>
          <a:xfrm>
            <a:off x="4399407" y="2807208"/>
            <a:ext cx="548640" cy="548640"/>
          </a:xfrm>
          <a:prstGeom prst="ellipse">
            <a:avLst/>
          </a:prstGeom>
          <a:solidFill>
            <a:srgbClr val="F2A900"/>
          </a:solidFill>
          <a:ln/>
        </p:spPr>
        <p:txBody>
          <a:bodyPr/>
          <a:lstStyle/>
          <a:p>
            <a:endParaRPr lang="en-IN"/>
          </a:p>
        </p:txBody>
      </p:sp>
      <p:pic>
        <p:nvPicPr>
          <p:cNvPr id="14" name="Image 1" descr="icons/moneybag_navy.png"/>
          <p:cNvPicPr>
            <a:picLocks noChangeAspect="1"/>
          </p:cNvPicPr>
          <p:nvPr/>
        </p:nvPicPr>
        <p:blipFill>
          <a:blip r:embed="rId4"/>
          <a:stretch>
            <a:fillRect/>
          </a:stretch>
        </p:blipFill>
        <p:spPr>
          <a:xfrm>
            <a:off x="4547540" y="2955341"/>
            <a:ext cx="252374" cy="252374"/>
          </a:xfrm>
          <a:prstGeom prst="rect">
            <a:avLst/>
          </a:prstGeom>
        </p:spPr>
      </p:pic>
      <p:sp>
        <p:nvSpPr>
          <p:cNvPr id="15" name="Text 11"/>
          <p:cNvSpPr/>
          <p:nvPr/>
        </p:nvSpPr>
        <p:spPr>
          <a:xfrm>
            <a:off x="3481578" y="3474720"/>
            <a:ext cx="2384298"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Revenue</a:t>
            </a:r>
            <a:endParaRPr lang="en-US" sz="1300" dirty="0"/>
          </a:p>
        </p:txBody>
      </p:sp>
      <p:sp>
        <p:nvSpPr>
          <p:cNvPr id="16" name="Text 12"/>
          <p:cNvSpPr/>
          <p:nvPr/>
        </p:nvSpPr>
        <p:spPr>
          <a:xfrm>
            <a:off x="3481578" y="3776472"/>
            <a:ext cx="2384298" cy="365760"/>
          </a:xfrm>
          <a:prstGeom prst="rect">
            <a:avLst/>
          </a:prstGeom>
          <a:noFill/>
          <a:ln/>
        </p:spPr>
        <p:txBody>
          <a:bodyPr wrap="square" rtlCol="0" anchor="ctr"/>
          <a:lstStyle/>
          <a:p>
            <a:pPr marL="0" indent="0" algn="ctr">
              <a:lnSpc>
                <a:spcPts val="1200"/>
              </a:lnSpc>
              <a:buNone/>
            </a:pPr>
            <a:r>
              <a:rPr lang="en-US" sz="1000" dirty="0">
                <a:solidFill>
                  <a:srgbClr val="CADCFC"/>
                </a:solidFill>
                <a:latin typeface="Calibri" pitchFamily="34" charset="0"/>
                <a:ea typeface="Calibri" pitchFamily="34" charset="-122"/>
                <a:cs typeface="Calibri" pitchFamily="34" charset="-120"/>
              </a:rPr>
              <a:t>Track business performance</a:t>
            </a:r>
            <a:endParaRPr lang="en-US" sz="1000" dirty="0"/>
          </a:p>
        </p:txBody>
      </p:sp>
      <p:sp>
        <p:nvSpPr>
          <p:cNvPr id="17" name="Shape 13"/>
          <p:cNvSpPr/>
          <p:nvPr/>
        </p:nvSpPr>
        <p:spPr>
          <a:xfrm>
            <a:off x="6231636" y="2606040"/>
            <a:ext cx="2567178" cy="1554480"/>
          </a:xfrm>
          <a:prstGeom prst="roundRect">
            <a:avLst>
              <a:gd name="adj" fmla="val 5882"/>
            </a:avLst>
          </a:prstGeom>
          <a:solidFill>
            <a:srgbClr val="1F4373"/>
          </a:solidFill>
          <a:ln/>
        </p:spPr>
        <p:txBody>
          <a:bodyPr/>
          <a:lstStyle/>
          <a:p>
            <a:endParaRPr lang="en-IN"/>
          </a:p>
        </p:txBody>
      </p:sp>
      <p:sp>
        <p:nvSpPr>
          <p:cNvPr id="18" name="Shape 14"/>
          <p:cNvSpPr/>
          <p:nvPr/>
        </p:nvSpPr>
        <p:spPr>
          <a:xfrm>
            <a:off x="7240905" y="2807208"/>
            <a:ext cx="548640" cy="548640"/>
          </a:xfrm>
          <a:prstGeom prst="ellipse">
            <a:avLst/>
          </a:prstGeom>
          <a:solidFill>
            <a:srgbClr val="F2A900"/>
          </a:solidFill>
          <a:ln/>
        </p:spPr>
        <p:txBody>
          <a:bodyPr/>
          <a:lstStyle/>
          <a:p>
            <a:endParaRPr lang="en-IN"/>
          </a:p>
        </p:txBody>
      </p:sp>
      <p:pic>
        <p:nvPicPr>
          <p:cNvPr id="19" name="Image 2" descr="icons/delivery_navy.png"/>
          <p:cNvPicPr>
            <a:picLocks noChangeAspect="1"/>
          </p:cNvPicPr>
          <p:nvPr/>
        </p:nvPicPr>
        <p:blipFill>
          <a:blip r:embed="rId5"/>
          <a:stretch>
            <a:fillRect/>
          </a:stretch>
        </p:blipFill>
        <p:spPr>
          <a:xfrm>
            <a:off x="7389038" y="2955341"/>
            <a:ext cx="252374" cy="252374"/>
          </a:xfrm>
          <a:prstGeom prst="rect">
            <a:avLst/>
          </a:prstGeom>
        </p:spPr>
      </p:pic>
      <p:sp>
        <p:nvSpPr>
          <p:cNvPr id="20" name="Text 15"/>
          <p:cNvSpPr/>
          <p:nvPr/>
        </p:nvSpPr>
        <p:spPr>
          <a:xfrm>
            <a:off x="6323076" y="3474720"/>
            <a:ext cx="2384298"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Delivery</a:t>
            </a:r>
            <a:endParaRPr lang="en-US" sz="1300" dirty="0"/>
          </a:p>
        </p:txBody>
      </p:sp>
      <p:sp>
        <p:nvSpPr>
          <p:cNvPr id="21" name="Text 16"/>
          <p:cNvSpPr/>
          <p:nvPr/>
        </p:nvSpPr>
        <p:spPr>
          <a:xfrm>
            <a:off x="6323076" y="3776472"/>
            <a:ext cx="2384298" cy="365760"/>
          </a:xfrm>
          <a:prstGeom prst="rect">
            <a:avLst/>
          </a:prstGeom>
          <a:noFill/>
          <a:ln/>
        </p:spPr>
        <p:txBody>
          <a:bodyPr wrap="square" rtlCol="0" anchor="ctr"/>
          <a:lstStyle/>
          <a:p>
            <a:pPr marL="0" indent="0" algn="ctr">
              <a:lnSpc>
                <a:spcPts val="1200"/>
              </a:lnSpc>
              <a:buNone/>
            </a:pPr>
            <a:r>
              <a:rPr lang="en-US" sz="1000" dirty="0">
                <a:solidFill>
                  <a:srgbClr val="CADCFC"/>
                </a:solidFill>
                <a:latin typeface="Calibri" pitchFamily="34" charset="0"/>
                <a:ea typeface="Calibri" pitchFamily="34" charset="-122"/>
                <a:cs typeface="Calibri" pitchFamily="34" charset="-120"/>
              </a:rPr>
              <a:t>Identify delivery issues</a:t>
            </a:r>
            <a:endParaRPr lang="en-US" sz="1000" dirty="0"/>
          </a:p>
        </p:txBody>
      </p:sp>
      <p:sp>
        <p:nvSpPr>
          <p:cNvPr id="22" name="Shape 17"/>
          <p:cNvSpPr/>
          <p:nvPr/>
        </p:nvSpPr>
        <p:spPr>
          <a:xfrm>
            <a:off x="9073134" y="2606040"/>
            <a:ext cx="2567178" cy="1554480"/>
          </a:xfrm>
          <a:prstGeom prst="roundRect">
            <a:avLst>
              <a:gd name="adj" fmla="val 5882"/>
            </a:avLst>
          </a:prstGeom>
          <a:solidFill>
            <a:srgbClr val="1F4373"/>
          </a:solidFill>
          <a:ln/>
        </p:spPr>
        <p:txBody>
          <a:bodyPr/>
          <a:lstStyle/>
          <a:p>
            <a:endParaRPr lang="en-IN"/>
          </a:p>
        </p:txBody>
      </p:sp>
      <p:sp>
        <p:nvSpPr>
          <p:cNvPr id="23" name="Shape 18"/>
          <p:cNvSpPr/>
          <p:nvPr/>
        </p:nvSpPr>
        <p:spPr>
          <a:xfrm>
            <a:off x="10082403" y="2807208"/>
            <a:ext cx="548640" cy="548640"/>
          </a:xfrm>
          <a:prstGeom prst="ellipse">
            <a:avLst/>
          </a:prstGeom>
          <a:solidFill>
            <a:srgbClr val="F2A900"/>
          </a:solidFill>
          <a:ln/>
        </p:spPr>
        <p:txBody>
          <a:bodyPr/>
          <a:lstStyle/>
          <a:p>
            <a:endParaRPr lang="en-IN"/>
          </a:p>
        </p:txBody>
      </p:sp>
      <p:pic>
        <p:nvPicPr>
          <p:cNvPr id="24" name="Image 3" descr="icons/restaurant_navy.png"/>
          <p:cNvPicPr>
            <a:picLocks noChangeAspect="1"/>
          </p:cNvPicPr>
          <p:nvPr/>
        </p:nvPicPr>
        <p:blipFill>
          <a:blip r:embed="rId6"/>
          <a:stretch>
            <a:fillRect/>
          </a:stretch>
        </p:blipFill>
        <p:spPr>
          <a:xfrm>
            <a:off x="10230536" y="2955341"/>
            <a:ext cx="252374" cy="252374"/>
          </a:xfrm>
          <a:prstGeom prst="rect">
            <a:avLst/>
          </a:prstGeom>
        </p:spPr>
      </p:pic>
      <p:sp>
        <p:nvSpPr>
          <p:cNvPr id="25" name="Text 19"/>
          <p:cNvSpPr/>
          <p:nvPr/>
        </p:nvSpPr>
        <p:spPr>
          <a:xfrm>
            <a:off x="9164574" y="3474720"/>
            <a:ext cx="2384298"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Restaurants &amp; Customers</a:t>
            </a:r>
            <a:endParaRPr lang="en-US" sz="1300" dirty="0"/>
          </a:p>
        </p:txBody>
      </p:sp>
      <p:sp>
        <p:nvSpPr>
          <p:cNvPr id="26" name="Text 20"/>
          <p:cNvSpPr/>
          <p:nvPr/>
        </p:nvSpPr>
        <p:spPr>
          <a:xfrm>
            <a:off x="9164574" y="3776472"/>
            <a:ext cx="2384298" cy="365760"/>
          </a:xfrm>
          <a:prstGeom prst="rect">
            <a:avLst/>
          </a:prstGeom>
          <a:noFill/>
          <a:ln/>
        </p:spPr>
        <p:txBody>
          <a:bodyPr wrap="square" rtlCol="0" anchor="ctr"/>
          <a:lstStyle/>
          <a:p>
            <a:pPr marL="0" indent="0" algn="ctr">
              <a:lnSpc>
                <a:spcPts val="1200"/>
              </a:lnSpc>
              <a:buNone/>
            </a:pPr>
            <a:r>
              <a:rPr lang="en-US" sz="1000" dirty="0">
                <a:solidFill>
                  <a:srgbClr val="CADCFC"/>
                </a:solidFill>
                <a:latin typeface="Calibri" pitchFamily="34" charset="0"/>
                <a:ea typeface="Calibri" pitchFamily="34" charset="-122"/>
                <a:cs typeface="Calibri" pitchFamily="34" charset="-120"/>
              </a:rPr>
              <a:t>Evaluate performance &amp; satisfaction</a:t>
            </a:r>
            <a:endParaRPr lang="en-US" sz="1000" dirty="0"/>
          </a:p>
        </p:txBody>
      </p:sp>
      <p:sp>
        <p:nvSpPr>
          <p:cNvPr id="27" name="Shape 21"/>
          <p:cNvSpPr/>
          <p:nvPr/>
        </p:nvSpPr>
        <p:spPr>
          <a:xfrm>
            <a:off x="640080" y="4709160"/>
            <a:ext cx="10881360" cy="0"/>
          </a:xfrm>
          <a:prstGeom prst="line">
            <a:avLst/>
          </a:prstGeom>
          <a:noFill/>
          <a:ln w="12700">
            <a:solidFill>
              <a:srgbClr val="355C86"/>
            </a:solidFill>
            <a:prstDash val="solid"/>
          </a:ln>
        </p:spPr>
        <p:txBody>
          <a:bodyPr/>
          <a:lstStyle/>
          <a:p>
            <a:endParaRPr lang="en-IN"/>
          </a:p>
        </p:txBody>
      </p:sp>
      <p:sp>
        <p:nvSpPr>
          <p:cNvPr id="28" name="Text 22"/>
          <p:cNvSpPr/>
          <p:nvPr/>
        </p:nvSpPr>
        <p:spPr>
          <a:xfrm>
            <a:off x="640080" y="4937760"/>
            <a:ext cx="7315200" cy="685800"/>
          </a:xfrm>
          <a:prstGeom prst="rect">
            <a:avLst/>
          </a:prstGeom>
          <a:noFill/>
          <a:ln/>
        </p:spPr>
        <p:txBody>
          <a:bodyPr wrap="square" rtlCol="0" anchor="ctr"/>
          <a:lstStyle/>
          <a:p>
            <a:pPr marL="0" indent="0">
              <a:buNone/>
            </a:pPr>
            <a:r>
              <a:rPr lang="en-US" sz="3200" b="1" dirty="0">
                <a:solidFill>
                  <a:srgbClr val="F2A900"/>
                </a:solidFill>
                <a:latin typeface="Calibri" pitchFamily="34" charset="0"/>
                <a:ea typeface="Calibri" pitchFamily="34" charset="-122"/>
                <a:cs typeface="Calibri" pitchFamily="34" charset="-120"/>
              </a:rPr>
              <a:t>Thank You</a:t>
            </a:r>
            <a:endParaRPr lang="en-US" sz="3200" dirty="0"/>
          </a:p>
        </p:txBody>
      </p:sp>
      <p:pic>
        <p:nvPicPr>
          <p:cNvPr id="29" name="Image 4" descr="icons/qa_white.png"/>
          <p:cNvPicPr>
            <a:picLocks noChangeAspect="1"/>
          </p:cNvPicPr>
          <p:nvPr/>
        </p:nvPicPr>
        <p:blipFill>
          <a:blip r:embed="rId7"/>
          <a:stretch>
            <a:fillRect/>
          </a:stretch>
        </p:blipFill>
        <p:spPr>
          <a:xfrm>
            <a:off x="658368" y="5669280"/>
            <a:ext cx="365760" cy="365760"/>
          </a:xfrm>
          <a:prstGeom prst="rect">
            <a:avLst/>
          </a:prstGeom>
        </p:spPr>
      </p:pic>
      <p:sp>
        <p:nvSpPr>
          <p:cNvPr id="30" name="Text 23"/>
          <p:cNvSpPr/>
          <p:nvPr/>
        </p:nvSpPr>
        <p:spPr>
          <a:xfrm>
            <a:off x="1143000" y="5669280"/>
            <a:ext cx="5486400" cy="36576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Questions &amp; Answers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469</Words>
  <Application>Microsoft Office PowerPoint</Application>
  <PresentationFormat>Widescreen</PresentationFormat>
  <Paragraphs>131</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rutika agre</cp:lastModifiedBy>
  <cp:revision>6</cp:revision>
  <dcterms:created xsi:type="dcterms:W3CDTF">2026-08-23T11:37:46Z</dcterms:created>
  <dcterms:modified xsi:type="dcterms:W3CDTF">2026-08-24T03:49:45Z</dcterms:modified>
</cp:coreProperties>
</file>